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2.svg" ContentType="image/svg+xml"/>
  <Override PartName="/ppt/media/image3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4" r:id="rId2"/>
    <p:sldId id="256" r:id="rId3"/>
    <p:sldId id="297" r:id="rId4"/>
    <p:sldId id="258" r:id="rId5"/>
    <p:sldId id="289" r:id="rId6"/>
    <p:sldId id="263" r:id="rId7"/>
    <p:sldId id="287" r:id="rId8"/>
    <p:sldId id="262" r:id="rId9"/>
    <p:sldId id="293" r:id="rId10"/>
    <p:sldId id="333" r:id="rId11"/>
    <p:sldId id="335" r:id="rId12"/>
    <p:sldId id="336" r:id="rId13"/>
    <p:sldId id="337" r:id="rId14"/>
    <p:sldId id="338" r:id="rId15"/>
    <p:sldId id="339" r:id="rId16"/>
    <p:sldId id="340" r:id="rId17"/>
    <p:sldId id="345" r:id="rId18"/>
    <p:sldId id="34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Adesões Totais (Novas + Reativações)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04/2026</c:v>
                </c:pt>
                <c:pt idx="1">
                  <c:v>05/2026</c:v>
                </c:pt>
                <c:pt idx="2">
                  <c:v>06/2026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35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39-4C22-854B-6C9605BD87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6681472"/>
        <c:axId val="386679120"/>
      </c:barChart>
      <c:dateAx>
        <c:axId val="386681472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679120"/>
        <c:crosses val="autoZero"/>
        <c:auto val="1"/>
        <c:lblOffset val="100"/>
        <c:baseTimeUnit val="months"/>
      </c:dateAx>
      <c:valAx>
        <c:axId val="3866791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386681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Novas Adesões SST Card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04/2026</c:v>
                </c:pt>
                <c:pt idx="1">
                  <c:v>05/2026</c:v>
                </c:pt>
                <c:pt idx="2">
                  <c:v>06/2026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25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39-4C22-854B-6C9605BD87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6676376"/>
        <c:axId val="386679512"/>
      </c:barChart>
      <c:dateAx>
        <c:axId val="386676376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679512"/>
        <c:crosses val="autoZero"/>
        <c:auto val="1"/>
        <c:lblOffset val="100"/>
        <c:baseTimeUnit val="months"/>
      </c:dateAx>
      <c:valAx>
        <c:axId val="3866795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86676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Reativações Tenex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04/2026</c:v>
                </c:pt>
                <c:pt idx="1">
                  <c:v>05/2026</c:v>
                </c:pt>
                <c:pt idx="2">
                  <c:v>06/2026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4C-407E-AC3E-22A68B087C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6679904"/>
        <c:axId val="386680296"/>
      </c:barChart>
      <c:dateAx>
        <c:axId val="3866799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680296"/>
        <c:crosses val="autoZero"/>
        <c:auto val="1"/>
        <c:lblOffset val="100"/>
        <c:baseTimeUnit val="months"/>
      </c:dateAx>
      <c:valAx>
        <c:axId val="3866802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86679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WhatsApp / Instagram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04/2026</c:v>
                </c:pt>
                <c:pt idx="1">
                  <c:v>05/2026</c:v>
                </c:pt>
                <c:pt idx="2">
                  <c:v>06/2026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17</c:v>
                </c:pt>
                <c:pt idx="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18-45AF-97FF-4F7BDCB17B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Presencial (Campo)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04/2026</c:v>
                </c:pt>
                <c:pt idx="1">
                  <c:v>05/2026</c:v>
                </c:pt>
                <c:pt idx="2">
                  <c:v>06/2026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8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18-45AF-97FF-4F7BDCB17B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387953440"/>
        <c:axId val="387956576"/>
      </c:barChart>
      <c:dateAx>
        <c:axId val="387953440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7956576"/>
        <c:crosses val="autoZero"/>
        <c:auto val="1"/>
        <c:lblOffset val="100"/>
        <c:baseTimeUnit val="months"/>
      </c:dateAx>
      <c:valAx>
        <c:axId val="38795657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one"/>
        <c:crossAx val="38795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WhatsApp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04/2026</c:v>
                </c:pt>
                <c:pt idx="1">
                  <c:v>05/2026</c:v>
                </c:pt>
                <c:pt idx="2">
                  <c:v>06/2026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15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33-4304-977E-C5BA7E0F5E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Presencial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04/2026</c:v>
                </c:pt>
                <c:pt idx="1">
                  <c:v>05/2026</c:v>
                </c:pt>
                <c:pt idx="2">
                  <c:v>06/2026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8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33-4304-977E-C5BA7E0F5E9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Instagram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04/2026</c:v>
                </c:pt>
                <c:pt idx="1">
                  <c:v>05/2026</c:v>
                </c:pt>
                <c:pt idx="2">
                  <c:v>06/2026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33-4304-977E-C5BA7E0F5E9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Indicação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04/2026</c:v>
                </c:pt>
                <c:pt idx="1">
                  <c:v>05/2026</c:v>
                </c:pt>
                <c:pt idx="2">
                  <c:v>06/2026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33-4304-977E-C5BA7E0F5E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387958928"/>
        <c:axId val="387958144"/>
      </c:barChart>
      <c:dateAx>
        <c:axId val="387958928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7958144"/>
        <c:crosses val="autoZero"/>
        <c:auto val="1"/>
        <c:lblOffset val="100"/>
        <c:baseTimeUnit val="months"/>
      </c:dateAx>
      <c:valAx>
        <c:axId val="38795814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387958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Total / Produção (R$)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2"/>
              <c:layout>
                <c:manualLayout>
                  <c:x val="0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CDF-411C-AAF8-5DF2AFB3D4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04/2026</c:v>
                </c:pt>
                <c:pt idx="1">
                  <c:v>05/2026</c:v>
                </c:pt>
                <c:pt idx="2">
                  <c:v>06/2026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5929</c:v>
                </c:pt>
                <c:pt idx="1">
                  <c:v>10127</c:v>
                </c:pt>
                <c:pt idx="2">
                  <c:v>12144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77-4AF1-B296-07AD72D938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9243728"/>
        <c:axId val="389246864"/>
      </c:barChart>
      <c:dateAx>
        <c:axId val="389243728"/>
        <c:scaling>
          <c:orientation val="minMax"/>
        </c:scaling>
        <c:delete val="0"/>
        <c:axPos val="b"/>
        <c:numFmt formatCode="mmm/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9246864"/>
        <c:crosses val="autoZero"/>
        <c:auto val="1"/>
        <c:lblOffset val="100"/>
        <c:baseTimeUnit val="months"/>
      </c:dateAx>
      <c:valAx>
        <c:axId val="38924686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89243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Recorrente (cartão)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04/2026</c:v>
                </c:pt>
                <c:pt idx="1">
                  <c:v>05/2026</c:v>
                </c:pt>
                <c:pt idx="2">
                  <c:v>06/2026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2000</c:v>
                </c:pt>
                <c:pt idx="1">
                  <c:v>3000</c:v>
                </c:pt>
                <c:pt idx="2">
                  <c:v>3794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47-4988-A910-9E6E7ACAE0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Ativo (Pix/cobrança)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04/2026</c:v>
                </c:pt>
                <c:pt idx="1">
                  <c:v>05/2026</c:v>
                </c:pt>
                <c:pt idx="2">
                  <c:v>06/2026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3929</c:v>
                </c:pt>
                <c:pt idx="1">
                  <c:v>4222</c:v>
                </c:pt>
                <c:pt idx="2">
                  <c:v>5927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47-4988-A910-9E6E7ACAE0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Dinheiro (recepção)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04/2026</c:v>
                </c:pt>
                <c:pt idx="1">
                  <c:v>05/2026</c:v>
                </c:pt>
                <c:pt idx="2">
                  <c:v>06/2026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2905</c:v>
                </c:pt>
                <c:pt idx="2">
                  <c:v>2332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347-4988-A910-9E6E7ACAE03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Débito/Outros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04/2026</c:v>
                </c:pt>
                <c:pt idx="1">
                  <c:v>05/2026</c:v>
                </c:pt>
                <c:pt idx="2">
                  <c:v>06/2026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347-4988-A910-9E6E7ACAE0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389247648"/>
        <c:axId val="389247256"/>
      </c:barChart>
      <c:dateAx>
        <c:axId val="389247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9247256"/>
        <c:crosses val="autoZero"/>
        <c:auto val="1"/>
        <c:lblOffset val="100"/>
        <c:baseTimeUnit val="months"/>
      </c:dateAx>
      <c:valAx>
        <c:axId val="38924725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one"/>
        <c:crossAx val="389247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de Adesão (R$)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04/2026</c:v>
                </c:pt>
                <c:pt idx="1">
                  <c:v>05/2026</c:v>
                </c:pt>
                <c:pt idx="2">
                  <c:v>06/2026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</c:v>
                </c:pt>
                <c:pt idx="1">
                  <c:v>200</c:v>
                </c:pt>
                <c:pt idx="2">
                  <c:v>1050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0D-4C95-B416-6D0F75A866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9248432"/>
        <c:axId val="389244120"/>
      </c:barChart>
      <c:dateAx>
        <c:axId val="389248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9244120"/>
        <c:crosses val="autoZero"/>
        <c:auto val="1"/>
        <c:lblOffset val="100"/>
        <c:baseTimeUnit val="months"/>
      </c:dateAx>
      <c:valAx>
        <c:axId val="3892441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89248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svg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svg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A4C2D8-2BC9-4077-AFD4-23EF151B289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pt-BR"/>
        </a:p>
      </dgm:t>
    </dgm:pt>
    <dgm:pt modelId="{1552FBA6-D1A3-4046-9421-88E6278735BC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1- CAPTAR O CLIENTE </a:t>
          </a:r>
        </a:p>
      </dgm:t>
    </dgm:pt>
    <dgm:pt modelId="{A0B73F21-1DC2-443E-84B2-3415F9F27563}" type="parTrans" cxnId="{0D3B7979-0EF9-48BD-996C-3166DA032A58}">
      <dgm:prSet/>
      <dgm:spPr/>
      <dgm:t>
        <a:bodyPr/>
        <a:lstStyle/>
        <a:p>
          <a:endParaRPr lang="pt-BR"/>
        </a:p>
      </dgm:t>
    </dgm:pt>
    <dgm:pt modelId="{9B807D10-C368-4813-99EB-E1FE9CB2A926}" type="sibTrans" cxnId="{0D3B7979-0EF9-48BD-996C-3166DA032A58}">
      <dgm:prSet/>
      <dgm:spPr/>
      <dgm:t>
        <a:bodyPr/>
        <a:lstStyle/>
        <a:p>
          <a:endParaRPr lang="pt-BR"/>
        </a:p>
      </dgm:t>
    </dgm:pt>
    <dgm:pt modelId="{B506BEC0-95E5-4369-AF34-18BBC1FA689A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2- RECEBER DO CLIENTE</a:t>
          </a:r>
        </a:p>
      </dgm:t>
    </dgm:pt>
    <dgm:pt modelId="{09DB863D-72E3-4095-A1A1-6EB16B2123A4}" type="parTrans" cxnId="{2D772516-A481-40E6-B7E2-E0186C172FCB}">
      <dgm:prSet/>
      <dgm:spPr/>
      <dgm:t>
        <a:bodyPr/>
        <a:lstStyle/>
        <a:p>
          <a:endParaRPr lang="pt-BR"/>
        </a:p>
      </dgm:t>
    </dgm:pt>
    <dgm:pt modelId="{0618006F-4FEC-4F05-8BAE-8E930C9EDD8E}" type="sibTrans" cxnId="{2D772516-A481-40E6-B7E2-E0186C172FCB}">
      <dgm:prSet/>
      <dgm:spPr/>
      <dgm:t>
        <a:bodyPr/>
        <a:lstStyle/>
        <a:p>
          <a:endParaRPr lang="pt-BR"/>
        </a:p>
      </dgm:t>
    </dgm:pt>
    <dgm:pt modelId="{63DFE3E2-68A3-40F1-A8E8-42FE90EE012C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3- MANTER O CLIENTE</a:t>
          </a:r>
        </a:p>
      </dgm:t>
    </dgm:pt>
    <dgm:pt modelId="{F45DDFC5-D569-4647-A012-853E5E108E52}" type="parTrans" cxnId="{78686405-AB32-4CEC-887D-C0E59ECACB50}">
      <dgm:prSet/>
      <dgm:spPr/>
      <dgm:t>
        <a:bodyPr/>
        <a:lstStyle/>
        <a:p>
          <a:endParaRPr lang="pt-BR"/>
        </a:p>
      </dgm:t>
    </dgm:pt>
    <dgm:pt modelId="{FE028FE1-7421-4E97-8417-DD395FFAAC03}" type="sibTrans" cxnId="{78686405-AB32-4CEC-887D-C0E59ECACB50}">
      <dgm:prSet/>
      <dgm:spPr/>
      <dgm:t>
        <a:bodyPr/>
        <a:lstStyle/>
        <a:p>
          <a:endParaRPr lang="pt-BR"/>
        </a:p>
      </dgm:t>
    </dgm:pt>
    <dgm:pt modelId="{2BC3294D-B675-4289-9C15-B4077E98C884}" type="pres">
      <dgm:prSet presAssocID="{71A4C2D8-2BC9-4077-AFD4-23EF151B2899}" presName="root" presStyleCnt="0">
        <dgm:presLayoutVars>
          <dgm:dir/>
          <dgm:resizeHandles val="exact"/>
        </dgm:presLayoutVars>
      </dgm:prSet>
      <dgm:spPr/>
    </dgm:pt>
    <dgm:pt modelId="{0565EAC5-53EB-447E-90E5-ACD9CF5763FF}" type="pres">
      <dgm:prSet presAssocID="{1552FBA6-D1A3-4046-9421-88E6278735BC}" presName="compNode" presStyleCnt="0"/>
      <dgm:spPr/>
    </dgm:pt>
    <dgm:pt modelId="{001BF7D5-2D4C-4E35-8070-47EE65721EBB}" type="pres">
      <dgm:prSet presAssocID="{1552FBA6-D1A3-4046-9421-88E6278735BC}" presName="bgRect" presStyleLbl="bgShp" presStyleIdx="0" presStyleCnt="3"/>
      <dgm:spPr/>
    </dgm:pt>
    <dgm:pt modelId="{4310C63A-64BF-412D-9133-8D16F1ADBA7F}" type="pres">
      <dgm:prSet presAssocID="{1552FBA6-D1A3-4046-9421-88E6278735B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802CE5B2-5807-46D3-9C84-108056AB2C3F}" type="pres">
      <dgm:prSet presAssocID="{1552FBA6-D1A3-4046-9421-88E6278735BC}" presName="spaceRect" presStyleCnt="0"/>
      <dgm:spPr/>
    </dgm:pt>
    <dgm:pt modelId="{E5FD191B-9272-4A32-BE10-CAE71E3B1DE3}" type="pres">
      <dgm:prSet presAssocID="{1552FBA6-D1A3-4046-9421-88E6278735BC}" presName="parTx" presStyleLbl="revTx" presStyleIdx="0" presStyleCnt="3">
        <dgm:presLayoutVars>
          <dgm:chMax val="0"/>
          <dgm:chPref val="0"/>
        </dgm:presLayoutVars>
      </dgm:prSet>
      <dgm:spPr/>
    </dgm:pt>
    <dgm:pt modelId="{09B0421F-2B78-4606-B082-3FCFB18EFEF3}" type="pres">
      <dgm:prSet presAssocID="{9B807D10-C368-4813-99EB-E1FE9CB2A926}" presName="sibTrans" presStyleCnt="0"/>
      <dgm:spPr/>
    </dgm:pt>
    <dgm:pt modelId="{E7004B35-04FF-4681-9F95-292AA848E0FA}" type="pres">
      <dgm:prSet presAssocID="{B506BEC0-95E5-4369-AF34-18BBC1FA689A}" presName="compNode" presStyleCnt="0"/>
      <dgm:spPr/>
    </dgm:pt>
    <dgm:pt modelId="{6B886E99-C527-42B9-824C-22107B8729D5}" type="pres">
      <dgm:prSet presAssocID="{B506BEC0-95E5-4369-AF34-18BBC1FA689A}" presName="bgRect" presStyleLbl="bgShp" presStyleIdx="1" presStyleCnt="3" custLinFactNeighborY="-2749"/>
      <dgm:spPr/>
    </dgm:pt>
    <dgm:pt modelId="{752632CF-80B2-468F-A25C-D20128664C07}" type="pres">
      <dgm:prSet presAssocID="{B506BEC0-95E5-4369-AF34-18BBC1FA689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13B018A-752B-49D3-B6E4-A5C2488616EF}" type="pres">
      <dgm:prSet presAssocID="{B506BEC0-95E5-4369-AF34-18BBC1FA689A}" presName="spaceRect" presStyleCnt="0"/>
      <dgm:spPr/>
    </dgm:pt>
    <dgm:pt modelId="{185130E9-DB5B-40C3-A8F1-295998F489E3}" type="pres">
      <dgm:prSet presAssocID="{B506BEC0-95E5-4369-AF34-18BBC1FA689A}" presName="parTx" presStyleLbl="revTx" presStyleIdx="1" presStyleCnt="3">
        <dgm:presLayoutVars>
          <dgm:chMax val="0"/>
          <dgm:chPref val="0"/>
        </dgm:presLayoutVars>
      </dgm:prSet>
      <dgm:spPr/>
    </dgm:pt>
    <dgm:pt modelId="{28E1BABE-BB83-4FD5-B739-A0387A2A570F}" type="pres">
      <dgm:prSet presAssocID="{0618006F-4FEC-4F05-8BAE-8E930C9EDD8E}" presName="sibTrans" presStyleCnt="0"/>
      <dgm:spPr/>
    </dgm:pt>
    <dgm:pt modelId="{DE9DBBEC-EED7-42D1-88F9-9C3E5AA1950E}" type="pres">
      <dgm:prSet presAssocID="{63DFE3E2-68A3-40F1-A8E8-42FE90EE012C}" presName="compNode" presStyleCnt="0"/>
      <dgm:spPr/>
    </dgm:pt>
    <dgm:pt modelId="{2E0B624D-1A5E-4B56-B71F-11373BC184E8}" type="pres">
      <dgm:prSet presAssocID="{63DFE3E2-68A3-40F1-A8E8-42FE90EE012C}" presName="bgRect" presStyleLbl="bgShp" presStyleIdx="2" presStyleCnt="3"/>
      <dgm:spPr/>
    </dgm:pt>
    <dgm:pt modelId="{8FA3416B-F855-4868-AB1C-DCA87003BA9E}" type="pres">
      <dgm:prSet presAssocID="{63DFE3E2-68A3-40F1-A8E8-42FE90EE012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0022A8C1-3B8F-4807-A306-EFE771B3211B}" type="pres">
      <dgm:prSet presAssocID="{63DFE3E2-68A3-40F1-A8E8-42FE90EE012C}" presName="spaceRect" presStyleCnt="0"/>
      <dgm:spPr/>
    </dgm:pt>
    <dgm:pt modelId="{E6377870-E945-4118-963E-EBF7F3CC5240}" type="pres">
      <dgm:prSet presAssocID="{63DFE3E2-68A3-40F1-A8E8-42FE90EE012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8686405-AB32-4CEC-887D-C0E59ECACB50}" srcId="{71A4C2D8-2BC9-4077-AFD4-23EF151B2899}" destId="{63DFE3E2-68A3-40F1-A8E8-42FE90EE012C}" srcOrd="2" destOrd="0" parTransId="{F45DDFC5-D569-4647-A012-853E5E108E52}" sibTransId="{FE028FE1-7421-4E97-8417-DD395FFAAC03}"/>
    <dgm:cxn modelId="{2D772516-A481-40E6-B7E2-E0186C172FCB}" srcId="{71A4C2D8-2BC9-4077-AFD4-23EF151B2899}" destId="{B506BEC0-95E5-4369-AF34-18BBC1FA689A}" srcOrd="1" destOrd="0" parTransId="{09DB863D-72E3-4095-A1A1-6EB16B2123A4}" sibTransId="{0618006F-4FEC-4F05-8BAE-8E930C9EDD8E}"/>
    <dgm:cxn modelId="{60970D55-1A64-40D7-B686-8C5E86620100}" type="presOf" srcId="{63DFE3E2-68A3-40F1-A8E8-42FE90EE012C}" destId="{E6377870-E945-4118-963E-EBF7F3CC5240}" srcOrd="0" destOrd="0" presId="urn:microsoft.com/office/officeart/2018/2/layout/IconVerticalSolidList"/>
    <dgm:cxn modelId="{0D3B7979-0EF9-48BD-996C-3166DA032A58}" srcId="{71A4C2D8-2BC9-4077-AFD4-23EF151B2899}" destId="{1552FBA6-D1A3-4046-9421-88E6278735BC}" srcOrd="0" destOrd="0" parTransId="{A0B73F21-1DC2-443E-84B2-3415F9F27563}" sibTransId="{9B807D10-C368-4813-99EB-E1FE9CB2A926}"/>
    <dgm:cxn modelId="{C4E17FC9-D9FF-4799-A920-E9629E39577C}" type="presOf" srcId="{71A4C2D8-2BC9-4077-AFD4-23EF151B2899}" destId="{2BC3294D-B675-4289-9C15-B4077E98C884}" srcOrd="0" destOrd="0" presId="urn:microsoft.com/office/officeart/2018/2/layout/IconVerticalSolidList"/>
    <dgm:cxn modelId="{3F9388D4-D86D-4A1D-8E8A-FC40D89FDB7E}" type="presOf" srcId="{B506BEC0-95E5-4369-AF34-18BBC1FA689A}" destId="{185130E9-DB5B-40C3-A8F1-295998F489E3}" srcOrd="0" destOrd="0" presId="urn:microsoft.com/office/officeart/2018/2/layout/IconVerticalSolidList"/>
    <dgm:cxn modelId="{990B3EFC-D919-4A11-8D9A-E9A732B7356F}" type="presOf" srcId="{1552FBA6-D1A3-4046-9421-88E6278735BC}" destId="{E5FD191B-9272-4A32-BE10-CAE71E3B1DE3}" srcOrd="0" destOrd="0" presId="urn:microsoft.com/office/officeart/2018/2/layout/IconVerticalSolidList"/>
    <dgm:cxn modelId="{660EF418-B16A-44D2-A1C3-F1255EBB6D4A}" type="presParOf" srcId="{2BC3294D-B675-4289-9C15-B4077E98C884}" destId="{0565EAC5-53EB-447E-90E5-ACD9CF5763FF}" srcOrd="0" destOrd="0" presId="urn:microsoft.com/office/officeart/2018/2/layout/IconVerticalSolidList"/>
    <dgm:cxn modelId="{94816CF6-01D8-4CBF-98C6-0F2E94EC1E17}" type="presParOf" srcId="{0565EAC5-53EB-447E-90E5-ACD9CF5763FF}" destId="{001BF7D5-2D4C-4E35-8070-47EE65721EBB}" srcOrd="0" destOrd="0" presId="urn:microsoft.com/office/officeart/2018/2/layout/IconVerticalSolidList"/>
    <dgm:cxn modelId="{09E097EA-74FE-4D3B-8E0C-F37FD090445D}" type="presParOf" srcId="{0565EAC5-53EB-447E-90E5-ACD9CF5763FF}" destId="{4310C63A-64BF-412D-9133-8D16F1ADBA7F}" srcOrd="1" destOrd="0" presId="urn:microsoft.com/office/officeart/2018/2/layout/IconVerticalSolidList"/>
    <dgm:cxn modelId="{538FA32D-C8CF-43FE-B5B9-77B2438852FE}" type="presParOf" srcId="{0565EAC5-53EB-447E-90E5-ACD9CF5763FF}" destId="{802CE5B2-5807-46D3-9C84-108056AB2C3F}" srcOrd="2" destOrd="0" presId="urn:microsoft.com/office/officeart/2018/2/layout/IconVerticalSolidList"/>
    <dgm:cxn modelId="{7D32098B-A607-4840-AE3D-34A7C6F83C6D}" type="presParOf" srcId="{0565EAC5-53EB-447E-90E5-ACD9CF5763FF}" destId="{E5FD191B-9272-4A32-BE10-CAE71E3B1DE3}" srcOrd="3" destOrd="0" presId="urn:microsoft.com/office/officeart/2018/2/layout/IconVerticalSolidList"/>
    <dgm:cxn modelId="{3763E863-0EDA-4C4F-BCE8-95FB4ADAC5A1}" type="presParOf" srcId="{2BC3294D-B675-4289-9C15-B4077E98C884}" destId="{09B0421F-2B78-4606-B082-3FCFB18EFEF3}" srcOrd="1" destOrd="0" presId="urn:microsoft.com/office/officeart/2018/2/layout/IconVerticalSolidList"/>
    <dgm:cxn modelId="{5C354218-52D1-426C-B7DD-EA17A92295D7}" type="presParOf" srcId="{2BC3294D-B675-4289-9C15-B4077E98C884}" destId="{E7004B35-04FF-4681-9F95-292AA848E0FA}" srcOrd="2" destOrd="0" presId="urn:microsoft.com/office/officeart/2018/2/layout/IconVerticalSolidList"/>
    <dgm:cxn modelId="{D29440A1-7AAA-468C-ADEE-D741080EE5B0}" type="presParOf" srcId="{E7004B35-04FF-4681-9F95-292AA848E0FA}" destId="{6B886E99-C527-42B9-824C-22107B8729D5}" srcOrd="0" destOrd="0" presId="urn:microsoft.com/office/officeart/2018/2/layout/IconVerticalSolidList"/>
    <dgm:cxn modelId="{AC421EA8-71FD-441A-8679-FB7DDB3C3C54}" type="presParOf" srcId="{E7004B35-04FF-4681-9F95-292AA848E0FA}" destId="{752632CF-80B2-468F-A25C-D20128664C07}" srcOrd="1" destOrd="0" presId="urn:microsoft.com/office/officeart/2018/2/layout/IconVerticalSolidList"/>
    <dgm:cxn modelId="{91A7727B-F2BE-4E13-9811-F4DBABC5AF59}" type="presParOf" srcId="{E7004B35-04FF-4681-9F95-292AA848E0FA}" destId="{713B018A-752B-49D3-B6E4-A5C2488616EF}" srcOrd="2" destOrd="0" presId="urn:microsoft.com/office/officeart/2018/2/layout/IconVerticalSolidList"/>
    <dgm:cxn modelId="{F1826662-405D-4C0B-AC1B-1F2B2ED020C9}" type="presParOf" srcId="{E7004B35-04FF-4681-9F95-292AA848E0FA}" destId="{185130E9-DB5B-40C3-A8F1-295998F489E3}" srcOrd="3" destOrd="0" presId="urn:microsoft.com/office/officeart/2018/2/layout/IconVerticalSolidList"/>
    <dgm:cxn modelId="{1ECA033C-951F-4C27-B9DA-7B4B9E4DBAEB}" type="presParOf" srcId="{2BC3294D-B675-4289-9C15-B4077E98C884}" destId="{28E1BABE-BB83-4FD5-B739-A0387A2A570F}" srcOrd="3" destOrd="0" presId="urn:microsoft.com/office/officeart/2018/2/layout/IconVerticalSolidList"/>
    <dgm:cxn modelId="{4E440C43-CAF4-4191-842A-D9C753ED7DCB}" type="presParOf" srcId="{2BC3294D-B675-4289-9C15-B4077E98C884}" destId="{DE9DBBEC-EED7-42D1-88F9-9C3E5AA1950E}" srcOrd="4" destOrd="0" presId="urn:microsoft.com/office/officeart/2018/2/layout/IconVerticalSolidList"/>
    <dgm:cxn modelId="{1BDB7710-11D2-4884-A09F-CF287F30E486}" type="presParOf" srcId="{DE9DBBEC-EED7-42D1-88F9-9C3E5AA1950E}" destId="{2E0B624D-1A5E-4B56-B71F-11373BC184E8}" srcOrd="0" destOrd="0" presId="urn:microsoft.com/office/officeart/2018/2/layout/IconVerticalSolidList"/>
    <dgm:cxn modelId="{302E8F48-2096-463E-AD8E-4A4849ACDAAE}" type="presParOf" srcId="{DE9DBBEC-EED7-42D1-88F9-9C3E5AA1950E}" destId="{8FA3416B-F855-4868-AB1C-DCA87003BA9E}" srcOrd="1" destOrd="0" presId="urn:microsoft.com/office/officeart/2018/2/layout/IconVerticalSolidList"/>
    <dgm:cxn modelId="{B3BDC515-3856-40D4-8A2C-DD96C283704A}" type="presParOf" srcId="{DE9DBBEC-EED7-42D1-88F9-9C3E5AA1950E}" destId="{0022A8C1-3B8F-4807-A306-EFE771B3211B}" srcOrd="2" destOrd="0" presId="urn:microsoft.com/office/officeart/2018/2/layout/IconVerticalSolidList"/>
    <dgm:cxn modelId="{35DCB212-69C8-42FA-8449-EE3D5E5E39A9}" type="presParOf" srcId="{DE9DBBEC-EED7-42D1-88F9-9C3E5AA1950E}" destId="{E6377870-E945-4118-963E-EBF7F3CC524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1BF7D5-2D4C-4E35-8070-47EE65721EBB}">
      <dsp:nvSpPr>
        <dsp:cNvPr id="0" name=""/>
        <dsp:cNvSpPr/>
      </dsp:nvSpPr>
      <dsp:spPr>
        <a:xfrm>
          <a:off x="0" y="600"/>
          <a:ext cx="5641974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10C63A-64BF-412D-9133-8D16F1ADBA7F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D191B-9272-4A32-BE10-CAE71E3B1DE3}">
      <dsp:nvSpPr>
        <dsp:cNvPr id="0" name=""/>
        <dsp:cNvSpPr/>
      </dsp:nvSpPr>
      <dsp:spPr>
        <a:xfrm>
          <a:off x="1623616" y="600"/>
          <a:ext cx="4018358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1- CAPTAR O CLIENTE </a:t>
          </a:r>
        </a:p>
      </dsp:txBody>
      <dsp:txXfrm>
        <a:off x="1623616" y="600"/>
        <a:ext cx="4018358" cy="1405728"/>
      </dsp:txXfrm>
    </dsp:sp>
    <dsp:sp modelId="{6B886E99-C527-42B9-824C-22107B8729D5}">
      <dsp:nvSpPr>
        <dsp:cNvPr id="0" name=""/>
        <dsp:cNvSpPr/>
      </dsp:nvSpPr>
      <dsp:spPr>
        <a:xfrm>
          <a:off x="0" y="1719117"/>
          <a:ext cx="5641974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2632CF-80B2-468F-A25C-D20128664C07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5130E9-DB5B-40C3-A8F1-295998F489E3}">
      <dsp:nvSpPr>
        <dsp:cNvPr id="0" name=""/>
        <dsp:cNvSpPr/>
      </dsp:nvSpPr>
      <dsp:spPr>
        <a:xfrm>
          <a:off x="1623616" y="1757760"/>
          <a:ext cx="4018358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2- RECEBER DO CLIENTE</a:t>
          </a:r>
        </a:p>
      </dsp:txBody>
      <dsp:txXfrm>
        <a:off x="1623616" y="1757760"/>
        <a:ext cx="4018358" cy="1405728"/>
      </dsp:txXfrm>
    </dsp:sp>
    <dsp:sp modelId="{2E0B624D-1A5E-4B56-B71F-11373BC184E8}">
      <dsp:nvSpPr>
        <dsp:cNvPr id="0" name=""/>
        <dsp:cNvSpPr/>
      </dsp:nvSpPr>
      <dsp:spPr>
        <a:xfrm>
          <a:off x="0" y="3514921"/>
          <a:ext cx="5641974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3416B-F855-4868-AB1C-DCA87003BA9E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77870-E945-4118-963E-EBF7F3CC5240}">
      <dsp:nvSpPr>
        <dsp:cNvPr id="0" name=""/>
        <dsp:cNvSpPr/>
      </dsp:nvSpPr>
      <dsp:spPr>
        <a:xfrm>
          <a:off x="1623616" y="3514921"/>
          <a:ext cx="4018358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3- MANTER O CLIENTE</a:t>
          </a:r>
        </a:p>
      </dsp:txBody>
      <dsp:txXfrm>
        <a:off x="1623616" y="3514921"/>
        <a:ext cx="4018358" cy="14057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9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EDB57B2-1ECC-49FF-A691-13BE08CB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3224" y="1105351"/>
            <a:ext cx="6353967" cy="3023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RMAR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Relatório mensal de avaliação de resultado 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565E7F3-5244-4389-906B-44C36CA05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3224" y="4297556"/>
            <a:ext cx="6353968" cy="14333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Mês referência: 06/2026</a:t>
            </a:r>
            <a:r>
              <a:rPr lang="en-US" dirty="0">
                <a:solidFill>
                  <a:srgbClr val="FFFFFF"/>
                </a:solidFill>
              </a:rPr>
              <a:t/>
            </a:r>
            <a:r>
              <a:rPr lang="en-US" dirty="0" err="1">
                <a:solidFill>
                  <a:srgbClr val="FFFFFF"/>
                </a:solidFill>
              </a:rPr>
              <a:t/>
            </a:r>
            <a:r>
              <a:rPr lang="en-US" dirty="0">
                <a:solidFill>
                  <a:srgbClr val="FFFFFF"/>
                </a:solidFill>
              </a:rPr>
              <a:t/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42932" y="4214336"/>
            <a:ext cx="51206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68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C5337-76EC-402D-80AC-A8DE78C54B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Unidade: Bairro da Paz, Salvador/BA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C12C07-8839-477D-81AA-9D1CC03015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Preparado por: Mayko Rodrigues | Consultor Comercial</a:t>
            </a:r>
          </a:p>
        </p:txBody>
      </p:sp>
    </p:spTree>
    <p:extLst>
      <p:ext uri="{BB962C8B-B14F-4D97-AF65-F5344CB8AC3E}">
        <p14:creationId xmlns:p14="http://schemas.microsoft.com/office/powerpoint/2010/main" val="2541871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0FD031-8C53-4895-99D8-3AB274D21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Os pilares do nosso modelo de negócio</a:t>
            </a:r>
          </a:p>
        </p:txBody>
      </p:sp>
      <p:graphicFrame>
        <p:nvGraphicFramePr>
          <p:cNvPr id="4" name="Espaço Reservado para Conteúdo 5">
            <a:extLst>
              <a:ext uri="{FF2B5EF4-FFF2-40B4-BE49-F238E27FC236}">
                <a16:creationId xmlns:a16="http://schemas.microsoft.com/office/drawing/2014/main" id="{38D1CF6A-2EDB-4ACC-B2AC-2DEF043342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1465991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804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1F100B8-C371-42E7-93AA-0586A3CFB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 captação clientes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2F28A1A-4C8C-4B69-913D-75D6C7063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06/2026</a:t>
            </a:r>
          </a:p>
        </p:txBody>
      </p:sp>
    </p:spTree>
    <p:extLst>
      <p:ext uri="{BB962C8B-B14F-4D97-AF65-F5344CB8AC3E}">
        <p14:creationId xmlns:p14="http://schemas.microsoft.com/office/powerpoint/2010/main" val="427413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B462C-6DA7-417D-975B-5A4ED8171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Adesões Totais (Novas + Reativações Tenex)</a:t>
            </a:r>
            <a:r>
              <a:rPr lang="pt-BR" sz="2400" dirty="0"/>
              <a:t/>
            </a:r>
            <a:endParaRPr lang="pt-BR" dirty="0"/>
          </a:p>
        </p:txBody>
      </p:sp>
      <p:graphicFrame>
        <p:nvGraphicFramePr>
          <p:cNvPr id="7" name="Espaço Reservado para Conteúdo 7">
            <a:extLst>
              <a:ext uri="{FF2B5EF4-FFF2-40B4-BE49-F238E27FC236}">
                <a16:creationId xmlns:a16="http://schemas.microsoft.com/office/drawing/2014/main" id="{8F1A4A56-AF9A-4774-88BD-DD86723B4D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4396780"/>
              </p:ext>
            </p:extLst>
          </p:nvPr>
        </p:nvGraphicFramePr>
        <p:xfrm>
          <a:off x="546216" y="2062776"/>
          <a:ext cx="11194755" cy="4413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02734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B51A6A-FBFB-4CC2-A768-D14EA5390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Novas Adesões SST Card</a:t>
            </a:r>
          </a:p>
        </p:txBody>
      </p:sp>
      <p:graphicFrame>
        <p:nvGraphicFramePr>
          <p:cNvPr id="4" name="Espaço Reservado para Conteúdo 7">
            <a:extLst>
              <a:ext uri="{FF2B5EF4-FFF2-40B4-BE49-F238E27FC236}">
                <a16:creationId xmlns:a16="http://schemas.microsoft.com/office/drawing/2014/main" id="{8F1A4A56-AF9A-4774-88BD-DD86723B4D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25916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9876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A9149-2F37-4E0E-A240-AA7754B1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Reativações Tenex</a:t>
            </a:r>
          </a:p>
        </p:txBody>
      </p:sp>
      <p:graphicFrame>
        <p:nvGraphicFramePr>
          <p:cNvPr id="4" name="Espaço Reservado para Conteúdo 7">
            <a:extLst>
              <a:ext uri="{FF2B5EF4-FFF2-40B4-BE49-F238E27FC236}">
                <a16:creationId xmlns:a16="http://schemas.microsoft.com/office/drawing/2014/main" id="{121CAE87-A9EF-420E-A6C7-87123F6FE7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450973"/>
              </p:ext>
            </p:extLst>
          </p:nvPr>
        </p:nvGraphicFramePr>
        <p:xfrm>
          <a:off x="1023938" y="1803042"/>
          <a:ext cx="9720262" cy="4639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81027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F30C4-8123-4B8B-82FB-8D84B448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Canal de Captação</a:t>
            </a:r>
          </a:p>
        </p:txBody>
      </p:sp>
      <p:graphicFrame>
        <p:nvGraphicFramePr>
          <p:cNvPr id="5" name="Espaço Reservado para Conteúdo 5">
            <a:extLst>
              <a:ext uri="{FF2B5EF4-FFF2-40B4-BE49-F238E27FC236}">
                <a16:creationId xmlns:a16="http://schemas.microsoft.com/office/drawing/2014/main" id="{EC06D261-C6C1-4252-87A5-4A496C28B6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2499132"/>
              </p:ext>
            </p:extLst>
          </p:nvPr>
        </p:nvGraphicFramePr>
        <p:xfrm>
          <a:off x="498622" y="2444177"/>
          <a:ext cx="11194755" cy="4413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63897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8F30C4-8123-4B8B-82FB-8D84B448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Composição por Canal de Venda</a:t>
            </a:r>
          </a:p>
        </p:txBody>
      </p:sp>
      <p:graphicFrame>
        <p:nvGraphicFramePr>
          <p:cNvPr id="5" name="Espaço Reservado para Conteúdo 5">
            <a:extLst>
              <a:ext uri="{FF2B5EF4-FFF2-40B4-BE49-F238E27FC236}">
                <a16:creationId xmlns:a16="http://schemas.microsoft.com/office/drawing/2014/main" id="{6EC7E666-8774-446C-8AC0-729E42328C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122646"/>
              </p:ext>
            </p:extLst>
          </p:nvPr>
        </p:nvGraphicFramePr>
        <p:xfrm>
          <a:off x="300032" y="1922098"/>
          <a:ext cx="11305814" cy="4607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4339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B586068-3DDA-41FF-A40D-7CC0B9F5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 recebimento clientes</a:t>
            </a:r>
          </a:p>
        </p:txBody>
      </p:sp>
    </p:spTree>
    <p:extLst>
      <p:ext uri="{BB962C8B-B14F-4D97-AF65-F5344CB8AC3E}">
        <p14:creationId xmlns:p14="http://schemas.microsoft.com/office/powerpoint/2010/main" val="1286010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C6915-A461-4A28-8AFD-9A8A5096A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Receita Mensal — SST Card (R$)</a:t>
            </a:r>
            <a:r>
              <a:rPr lang="pt-BR" dirty="0" err="1"/>
              <a:t/>
            </a:r>
            <a:r>
              <a:rPr lang="pt-BR" dirty="0"/>
              <a:t/>
            </a:r>
          </a:p>
        </p:txBody>
      </p:sp>
      <p:graphicFrame>
        <p:nvGraphicFramePr>
          <p:cNvPr id="4" name="Espaço Reservado para Conteúdo 7">
            <a:extLst>
              <a:ext uri="{FF2B5EF4-FFF2-40B4-BE49-F238E27FC236}">
                <a16:creationId xmlns:a16="http://schemas.microsoft.com/office/drawing/2014/main" id="{2FD1F3C1-B084-4B1D-B059-0DB39A0ECB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48595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99BEA-2743-4700-BA3F-D56BF41C8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da Receita por Plano</a:t>
            </a:r>
          </a:p>
        </p:txBody>
      </p:sp>
      <p:graphicFrame>
        <p:nvGraphicFramePr>
          <p:cNvPr id="4" name="Espaço Reservado para Conteúdo 5">
            <a:extLst>
              <a:ext uri="{FF2B5EF4-FFF2-40B4-BE49-F238E27FC236}">
                <a16:creationId xmlns:a16="http://schemas.microsoft.com/office/drawing/2014/main" id="{42D5C1BA-C93E-49AA-8AF0-64EFA833C3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2"/>
          <a:ext cx="972026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91297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9682F6-10F8-4401-9026-7C395504B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TAXA DE ADESÃO ARRECADADA (R$)</a:t>
            </a:r>
          </a:p>
        </p:txBody>
      </p:sp>
      <p:graphicFrame>
        <p:nvGraphicFramePr>
          <p:cNvPr id="4" name="Espaço Reservado para Conteúdo 7">
            <a:extLst>
              <a:ext uri="{FF2B5EF4-FFF2-40B4-BE49-F238E27FC236}">
                <a16:creationId xmlns:a16="http://schemas.microsoft.com/office/drawing/2014/main" id="{1421A044-1D28-4389-B2AF-95CEAE960A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52915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925E-F0B5-4DD1-8CC3-F69CA1B6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6" y="0"/>
            <a:ext cx="9720072" cy="1499616"/>
          </a:xfrm>
        </p:spPr>
        <p:txBody>
          <a:bodyPr/>
          <a:lstStyle/>
          <a:p>
            <a:r>
              <a:rPr lang="pt-BR" dirty="0"/>
              <a:t>Adimplência TOTAL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EF2B27A-95A5-45C8-9765-21BA77CD59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50576" y="0"/>
          <a:ext cx="5989124" cy="5906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708381007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58805207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445143365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1623970291"/>
                    </a:ext>
                  </a:extLst>
                </a:gridCol>
              </a:tblGrid>
              <a:tr h="192139">
                <a:tc>
                  <a:txBody>
                    <a:bodyPr/>
                    <a:lstStyle/>
                    <a:p>
                      <a:r>
                        <a:rPr lang="pt-BR" dirty="0"/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ADIMPLÊNCIA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02420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04/2026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376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335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89,10%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807483489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35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28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80,00%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517394818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06/2026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327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178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54,44%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700534309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440729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65734144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1757836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8162141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321003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4646513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154061286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57422655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696717448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72209962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5867730" y="5909183"/>
          <a:ext cx="5989124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5879606" y="6301069"/>
          <a:ext cx="5989124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444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925E-F0B5-4DD1-8CC3-F69CA1B6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6" y="0"/>
            <a:ext cx="9720072" cy="1499616"/>
          </a:xfrm>
        </p:spPr>
        <p:txBody>
          <a:bodyPr/>
          <a:lstStyle/>
          <a:p>
            <a:r>
              <a:rPr lang="pt-BR" dirty="0"/>
              <a:t>Adimplência TOTAL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EF2B27A-95A5-45C8-9765-21BA77CD59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50576" y="0"/>
          <a:ext cx="5989124" cy="5601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708381007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58805207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445143365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1623970291"/>
                    </a:ext>
                  </a:extLst>
                </a:gridCol>
              </a:tblGrid>
              <a:tr h="192139">
                <a:tc>
                  <a:txBody>
                    <a:bodyPr/>
                    <a:lstStyle/>
                    <a:p>
                      <a:r>
                        <a:rPr lang="pt-BR" sz="1600" dirty="0"/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QCA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QIA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ADIMPLÊNCIA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02420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807483489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517394818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700534309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440729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65734144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1757836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8162141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321003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4646513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154061286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57422655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696717448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72209962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5855856" y="5612300"/>
          <a:ext cx="5989124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5855856" y="6063563"/>
          <a:ext cx="5989124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914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391509C-487C-4AA2-B1B5-7052D5E05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 manutenção dos clientes</a:t>
            </a:r>
          </a:p>
        </p:txBody>
      </p:sp>
    </p:spTree>
    <p:extLst>
      <p:ext uri="{BB962C8B-B14F-4D97-AF65-F5344CB8AC3E}">
        <p14:creationId xmlns:p14="http://schemas.microsoft.com/office/powerpoint/2010/main" val="1191672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925E-F0B5-4DD1-8CC3-F69CA1B6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264666"/>
            <a:ext cx="9720072" cy="1499616"/>
          </a:xfrm>
        </p:spPr>
        <p:txBody>
          <a:bodyPr/>
          <a:lstStyle/>
          <a:p>
            <a:r>
              <a:rPr lang="pt-BR" dirty="0"/>
              <a:t>CHURN RATE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EF2B27A-95A5-45C8-9765-21BA77CD59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8264" y="0"/>
          <a:ext cx="6258293" cy="611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490">
                  <a:extLst>
                    <a:ext uri="{9D8B030D-6E8A-4147-A177-3AD203B41FA5}">
                      <a16:colId xmlns:a16="http://schemas.microsoft.com/office/drawing/2014/main" val="2708381007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588052070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445143365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1623970291"/>
                    </a:ext>
                  </a:extLst>
                </a:gridCol>
              </a:tblGrid>
              <a:tr h="662667">
                <a:tc>
                  <a:txBody>
                    <a:bodyPr/>
                    <a:lstStyle/>
                    <a:p>
                      <a:r>
                        <a:rPr lang="pt-BR" dirty="0"/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DESFILIAÇÕES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CHURN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02420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04/2026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376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4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1,06%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171954560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05/2026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35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0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0,00%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807483489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06/2026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327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6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1,83%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517394818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700534309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440729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65734144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1757836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8162141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321003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4646513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154061286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57422655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831699069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5119585" y="6039811"/>
          <a:ext cx="6258296" cy="419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5131459" y="6438574"/>
          <a:ext cx="6258296" cy="419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762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925E-F0B5-4DD1-8CC3-F69CA1B6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264666"/>
            <a:ext cx="9720072" cy="1499616"/>
          </a:xfrm>
        </p:spPr>
        <p:txBody>
          <a:bodyPr/>
          <a:lstStyle/>
          <a:p>
            <a:r>
              <a:rPr lang="pt-BR" dirty="0"/>
              <a:t>CHURN RATE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EF2B27A-95A5-45C8-9765-21BA77CD59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8264" y="0"/>
          <a:ext cx="6258293" cy="611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490">
                  <a:extLst>
                    <a:ext uri="{9D8B030D-6E8A-4147-A177-3AD203B41FA5}">
                      <a16:colId xmlns:a16="http://schemas.microsoft.com/office/drawing/2014/main" val="2708381007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588052070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445143365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1623970291"/>
                    </a:ext>
                  </a:extLst>
                </a:gridCol>
              </a:tblGrid>
              <a:tr h="662667">
                <a:tc>
                  <a:txBody>
                    <a:bodyPr/>
                    <a:lstStyle/>
                    <a:p>
                      <a:r>
                        <a:rPr lang="pt-BR" dirty="0"/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DESFILIAÇÕES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CHURN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02420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171954560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807483489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517394818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700534309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440729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65734144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1757836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8162141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321003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4646513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154061286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57422655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831699069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5048334" y="6224824"/>
          <a:ext cx="6258296" cy="419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654084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3428</TotalTime>
  <Words>263</Words>
  <Application>Microsoft Office PowerPoint</Application>
  <PresentationFormat>Widescreen</PresentationFormat>
  <Paragraphs>177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Tw Cen MT</vt:lpstr>
      <vt:lpstr>Tw Cen MT Condensed</vt:lpstr>
      <vt:lpstr>Wingdings 3</vt:lpstr>
      <vt:lpstr>Integral</vt:lpstr>
      <vt:lpstr>RMAR Relatório mensal de avaliação de resultado </vt:lpstr>
      <vt:lpstr>Unidade: cidade ademar/sp</vt:lpstr>
      <vt:lpstr>Os pilares do nosso modelo de negócio</vt:lpstr>
      <vt:lpstr>Resultado captação clientes</vt:lpstr>
      <vt:lpstr>Prospecções total (novas prospecções + refiliações)</vt:lpstr>
      <vt:lpstr>Novas prospecções</vt:lpstr>
      <vt:lpstr>Refiliações</vt:lpstr>
      <vt:lpstr>Modalidade prospecções</vt:lpstr>
      <vt:lpstr>Modalidade prospecções e refiliações</vt:lpstr>
      <vt:lpstr>Resultado recebimento clientes</vt:lpstr>
      <vt:lpstr>Evolução qia – QUANTIDADE DE ITENS ARRECADADOS</vt:lpstr>
      <vt:lpstr>Composição qia</vt:lpstr>
      <vt:lpstr>HOMOLOGAÇÃO</vt:lpstr>
      <vt:lpstr>Adimplência TOTAL</vt:lpstr>
      <vt:lpstr>Adimplência TOTAL</vt:lpstr>
      <vt:lpstr>Resultado manutenção dos clientes</vt:lpstr>
      <vt:lpstr>CHURN RATE</vt:lpstr>
      <vt:lpstr>CHURN RATE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RMAR Relatório mensal de avaliação de resultado</dc:title>
  <dc:creator>Briza Freitas</dc:creator>
  <cp:lastModifiedBy>MAYKO RODRIGUES</cp:lastModifiedBy>
  <cp:revision>130</cp:revision>
  <dcterms:created xsi:type="dcterms:W3CDTF">2020-03-18T18:28:06Z</dcterms:created>
  <dcterms:modified xsi:type="dcterms:W3CDTF">2026-05-12T17:23:39Z</dcterms:modified>
</cp:coreProperties>
</file>
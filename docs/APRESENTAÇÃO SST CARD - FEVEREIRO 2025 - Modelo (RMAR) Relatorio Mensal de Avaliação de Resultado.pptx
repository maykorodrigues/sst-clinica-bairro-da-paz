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56" r:id="rId3"/>
    <p:sldId id="297" r:id="rId4"/>
    <p:sldId id="258" r:id="rId5"/>
    <p:sldId id="289" r:id="rId6"/>
    <p:sldId id="263" r:id="rId7"/>
    <p:sldId id="287" r:id="rId8"/>
    <p:sldId id="262" r:id="rId9"/>
    <p:sldId id="293" r:id="rId10"/>
    <p:sldId id="333" r:id="rId11"/>
    <p:sldId id="335" r:id="rId12"/>
    <p:sldId id="336" r:id="rId13"/>
    <p:sldId id="337" r:id="rId14"/>
    <p:sldId id="338" r:id="rId15"/>
    <p:sldId id="339" r:id="rId16"/>
    <p:sldId id="340" r:id="rId17"/>
    <p:sldId id="345" r:id="rId18"/>
    <p:sldId id="34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Prospecções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Planilha1!$A$2:$A$22</c:f>
              <c:numCache>
                <c:formatCode>mmm\-yy</c:formatCode>
                <c:ptCount val="21"/>
                <c:pt idx="0">
                  <c:v>43497</c:v>
                </c:pt>
                <c:pt idx="1">
                  <c:v>43525</c:v>
                </c:pt>
                <c:pt idx="2">
                  <c:v>43556</c:v>
                </c:pt>
                <c:pt idx="3">
                  <c:v>43586</c:v>
                </c:pt>
                <c:pt idx="4">
                  <c:v>43617</c:v>
                </c:pt>
                <c:pt idx="5">
                  <c:v>43647</c:v>
                </c:pt>
                <c:pt idx="6">
                  <c:v>43678</c:v>
                </c:pt>
                <c:pt idx="7">
                  <c:v>43709</c:v>
                </c:pt>
                <c:pt idx="8">
                  <c:v>43739</c:v>
                </c:pt>
                <c:pt idx="9">
                  <c:v>43770</c:v>
                </c:pt>
                <c:pt idx="10">
                  <c:v>43800</c:v>
                </c:pt>
                <c:pt idx="11">
                  <c:v>43831</c:v>
                </c:pt>
                <c:pt idx="12">
                  <c:v>43862</c:v>
                </c:pt>
                <c:pt idx="13">
                  <c:v>43891</c:v>
                </c:pt>
                <c:pt idx="14">
                  <c:v>43922</c:v>
                </c:pt>
                <c:pt idx="15">
                  <c:v>43952</c:v>
                </c:pt>
                <c:pt idx="16">
                  <c:v>43983</c:v>
                </c:pt>
                <c:pt idx="17">
                  <c:v>44013</c:v>
                </c:pt>
                <c:pt idx="18">
                  <c:v>44044</c:v>
                </c:pt>
                <c:pt idx="19">
                  <c:v>44075</c:v>
                </c:pt>
                <c:pt idx="20">
                  <c:v>44105</c:v>
                </c:pt>
              </c:numCache>
            </c:numRef>
          </c:cat>
          <c:val>
            <c:numRef>
              <c:f>Planilha1!$B$2:$B$22</c:f>
              <c:numCache>
                <c:formatCode>General</c:formatCode>
                <c:ptCount val="21"/>
                <c:pt idx="0">
                  <c:v>708</c:v>
                </c:pt>
                <c:pt idx="1">
                  <c:v>671</c:v>
                </c:pt>
                <c:pt idx="2">
                  <c:v>747</c:v>
                </c:pt>
                <c:pt idx="3">
                  <c:v>808</c:v>
                </c:pt>
                <c:pt idx="4">
                  <c:v>530</c:v>
                </c:pt>
                <c:pt idx="5">
                  <c:v>561</c:v>
                </c:pt>
                <c:pt idx="6">
                  <c:v>590</c:v>
                </c:pt>
                <c:pt idx="7">
                  <c:v>483</c:v>
                </c:pt>
                <c:pt idx="8">
                  <c:v>512</c:v>
                </c:pt>
                <c:pt idx="9">
                  <c:v>422</c:v>
                </c:pt>
                <c:pt idx="10">
                  <c:v>213</c:v>
                </c:pt>
                <c:pt idx="11">
                  <c:v>302</c:v>
                </c:pt>
                <c:pt idx="12">
                  <c:v>191</c:v>
                </c:pt>
                <c:pt idx="13">
                  <c:v>195</c:v>
                </c:pt>
                <c:pt idx="14">
                  <c:v>265</c:v>
                </c:pt>
                <c:pt idx="15">
                  <c:v>340</c:v>
                </c:pt>
                <c:pt idx="16">
                  <c:v>501</c:v>
                </c:pt>
                <c:pt idx="17">
                  <c:v>743</c:v>
                </c:pt>
                <c:pt idx="18">
                  <c:v>694</c:v>
                </c:pt>
                <c:pt idx="19">
                  <c:v>629</c:v>
                </c:pt>
                <c:pt idx="20">
                  <c:v>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9-4C22-854B-6C9605BD8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81472"/>
        <c:axId val="386679120"/>
      </c:barChart>
      <c:dateAx>
        <c:axId val="38668147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79120"/>
        <c:crosses val="autoZero"/>
        <c:auto val="1"/>
        <c:lblOffset val="100"/>
        <c:baseTimeUnit val="months"/>
      </c:dateAx>
      <c:valAx>
        <c:axId val="386679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38668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Prospecções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Planilha1!$A$2:$A$23</c:f>
              <c:numCache>
                <c:formatCode>mmm\-yy</c:formatCode>
                <c:ptCount val="22"/>
                <c:pt idx="0">
                  <c:v>43466</c:v>
                </c:pt>
                <c:pt idx="1">
                  <c:v>43497</c:v>
                </c:pt>
                <c:pt idx="2">
                  <c:v>43525</c:v>
                </c:pt>
                <c:pt idx="3">
                  <c:v>43556</c:v>
                </c:pt>
                <c:pt idx="4">
                  <c:v>43586</c:v>
                </c:pt>
                <c:pt idx="5">
                  <c:v>43617</c:v>
                </c:pt>
                <c:pt idx="6">
                  <c:v>43647</c:v>
                </c:pt>
                <c:pt idx="7">
                  <c:v>43678</c:v>
                </c:pt>
                <c:pt idx="8">
                  <c:v>43709</c:v>
                </c:pt>
                <c:pt idx="9">
                  <c:v>43739</c:v>
                </c:pt>
                <c:pt idx="10">
                  <c:v>43770</c:v>
                </c:pt>
                <c:pt idx="11">
                  <c:v>43800</c:v>
                </c:pt>
                <c:pt idx="12">
                  <c:v>43831</c:v>
                </c:pt>
                <c:pt idx="13">
                  <c:v>43862</c:v>
                </c:pt>
                <c:pt idx="14">
                  <c:v>43891</c:v>
                </c:pt>
                <c:pt idx="15">
                  <c:v>43922</c:v>
                </c:pt>
                <c:pt idx="16">
                  <c:v>43952</c:v>
                </c:pt>
                <c:pt idx="17">
                  <c:v>43983</c:v>
                </c:pt>
                <c:pt idx="18">
                  <c:v>44013</c:v>
                </c:pt>
                <c:pt idx="19">
                  <c:v>44044</c:v>
                </c:pt>
                <c:pt idx="20">
                  <c:v>44075</c:v>
                </c:pt>
                <c:pt idx="21">
                  <c:v>44105</c:v>
                </c:pt>
              </c:numCache>
            </c:numRef>
          </c:cat>
          <c:val>
            <c:numRef>
              <c:f>Planilha1!$B$2:$B$23</c:f>
              <c:numCache>
                <c:formatCode>General</c:formatCode>
                <c:ptCount val="22"/>
                <c:pt idx="0">
                  <c:v>804</c:v>
                </c:pt>
                <c:pt idx="1">
                  <c:v>704</c:v>
                </c:pt>
                <c:pt idx="2">
                  <c:v>671</c:v>
                </c:pt>
                <c:pt idx="3">
                  <c:v>743</c:v>
                </c:pt>
                <c:pt idx="4">
                  <c:v>804</c:v>
                </c:pt>
                <c:pt idx="5">
                  <c:v>529</c:v>
                </c:pt>
                <c:pt idx="6">
                  <c:v>558</c:v>
                </c:pt>
                <c:pt idx="7">
                  <c:v>585</c:v>
                </c:pt>
                <c:pt idx="8">
                  <c:v>476</c:v>
                </c:pt>
                <c:pt idx="9">
                  <c:v>505</c:v>
                </c:pt>
                <c:pt idx="10">
                  <c:v>415</c:v>
                </c:pt>
                <c:pt idx="11">
                  <c:v>214</c:v>
                </c:pt>
                <c:pt idx="12">
                  <c:v>302</c:v>
                </c:pt>
                <c:pt idx="13">
                  <c:v>191</c:v>
                </c:pt>
                <c:pt idx="14">
                  <c:v>195</c:v>
                </c:pt>
                <c:pt idx="15">
                  <c:v>178</c:v>
                </c:pt>
                <c:pt idx="16">
                  <c:v>269</c:v>
                </c:pt>
                <c:pt idx="17">
                  <c:v>417</c:v>
                </c:pt>
                <c:pt idx="18">
                  <c:v>668</c:v>
                </c:pt>
                <c:pt idx="19">
                  <c:v>638</c:v>
                </c:pt>
                <c:pt idx="20">
                  <c:v>554</c:v>
                </c:pt>
                <c:pt idx="21">
                  <c:v>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9-4C22-854B-6C9605BD8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76376"/>
        <c:axId val="386679512"/>
      </c:barChart>
      <c:dateAx>
        <c:axId val="38667637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79512"/>
        <c:crosses val="autoZero"/>
        <c:auto val="1"/>
        <c:lblOffset val="100"/>
        <c:baseTimeUnit val="months"/>
      </c:dateAx>
      <c:valAx>
        <c:axId val="3866795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676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Refiliações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Planilha1!$A$2:$A$22</c:f>
              <c:numCache>
                <c:formatCode>mmm\-yy</c:formatCode>
                <c:ptCount val="21"/>
                <c:pt idx="0">
                  <c:v>43497</c:v>
                </c:pt>
                <c:pt idx="1">
                  <c:v>43525</c:v>
                </c:pt>
                <c:pt idx="2">
                  <c:v>43556</c:v>
                </c:pt>
                <c:pt idx="3">
                  <c:v>43586</c:v>
                </c:pt>
                <c:pt idx="4">
                  <c:v>43617</c:v>
                </c:pt>
                <c:pt idx="5">
                  <c:v>43647</c:v>
                </c:pt>
                <c:pt idx="6">
                  <c:v>43678</c:v>
                </c:pt>
                <c:pt idx="7">
                  <c:v>43709</c:v>
                </c:pt>
                <c:pt idx="8">
                  <c:v>43739</c:v>
                </c:pt>
                <c:pt idx="9">
                  <c:v>43770</c:v>
                </c:pt>
                <c:pt idx="10">
                  <c:v>43800</c:v>
                </c:pt>
                <c:pt idx="11">
                  <c:v>43831</c:v>
                </c:pt>
                <c:pt idx="12">
                  <c:v>43862</c:v>
                </c:pt>
                <c:pt idx="13">
                  <c:v>43891</c:v>
                </c:pt>
                <c:pt idx="14">
                  <c:v>43922</c:v>
                </c:pt>
                <c:pt idx="15">
                  <c:v>43952</c:v>
                </c:pt>
                <c:pt idx="16">
                  <c:v>43983</c:v>
                </c:pt>
                <c:pt idx="17" formatCode="m/d/yyyy">
                  <c:v>44013</c:v>
                </c:pt>
                <c:pt idx="18">
                  <c:v>44044</c:v>
                </c:pt>
                <c:pt idx="19">
                  <c:v>44075</c:v>
                </c:pt>
                <c:pt idx="20">
                  <c:v>44105</c:v>
                </c:pt>
              </c:numCache>
            </c:numRef>
          </c:cat>
          <c:val>
            <c:numRef>
              <c:f>Planilha1!$B$2:$B$22</c:f>
              <c:numCache>
                <c:formatCode>General</c:formatCode>
                <c:ptCount val="21"/>
                <c:pt idx="0">
                  <c:v>2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7</c:v>
                </c:pt>
                <c:pt idx="10">
                  <c:v>3</c:v>
                </c:pt>
                <c:pt idx="11">
                  <c:v>7</c:v>
                </c:pt>
                <c:pt idx="12">
                  <c:v>14</c:v>
                </c:pt>
                <c:pt idx="13">
                  <c:v>9</c:v>
                </c:pt>
                <c:pt idx="14">
                  <c:v>87</c:v>
                </c:pt>
                <c:pt idx="15">
                  <c:v>71</c:v>
                </c:pt>
                <c:pt idx="16">
                  <c:v>84</c:v>
                </c:pt>
                <c:pt idx="17">
                  <c:v>75</c:v>
                </c:pt>
                <c:pt idx="18">
                  <c:v>56</c:v>
                </c:pt>
                <c:pt idx="19">
                  <c:v>75</c:v>
                </c:pt>
                <c:pt idx="20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C-407E-AC3E-22A68B087C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79904"/>
        <c:axId val="386680296"/>
      </c:barChart>
      <c:dateAx>
        <c:axId val="3866799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80296"/>
        <c:crosses val="autoZero"/>
        <c:auto val="1"/>
        <c:lblOffset val="100"/>
        <c:baseTimeUnit val="months"/>
      </c:dateAx>
      <c:valAx>
        <c:axId val="3866802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67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Prospecções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Planilha1!$A$2:$A$22</c:f>
              <c:numCache>
                <c:formatCode>mmm\-yy</c:formatCode>
                <c:ptCount val="21"/>
                <c:pt idx="0">
                  <c:v>43497</c:v>
                </c:pt>
                <c:pt idx="1">
                  <c:v>43525</c:v>
                </c:pt>
                <c:pt idx="2">
                  <c:v>43556</c:v>
                </c:pt>
                <c:pt idx="3">
                  <c:v>43586</c:v>
                </c:pt>
                <c:pt idx="4">
                  <c:v>43617</c:v>
                </c:pt>
                <c:pt idx="5">
                  <c:v>43647</c:v>
                </c:pt>
                <c:pt idx="6">
                  <c:v>43678</c:v>
                </c:pt>
                <c:pt idx="7">
                  <c:v>43709</c:v>
                </c:pt>
                <c:pt idx="8">
                  <c:v>43739</c:v>
                </c:pt>
                <c:pt idx="9">
                  <c:v>43770</c:v>
                </c:pt>
                <c:pt idx="10">
                  <c:v>43800</c:v>
                </c:pt>
                <c:pt idx="11">
                  <c:v>43831</c:v>
                </c:pt>
                <c:pt idx="12">
                  <c:v>43862</c:v>
                </c:pt>
                <c:pt idx="13">
                  <c:v>43891</c:v>
                </c:pt>
                <c:pt idx="14">
                  <c:v>43922</c:v>
                </c:pt>
                <c:pt idx="15">
                  <c:v>43952</c:v>
                </c:pt>
                <c:pt idx="16">
                  <c:v>43983</c:v>
                </c:pt>
                <c:pt idx="17" formatCode="m/d/yyyy">
                  <c:v>44013</c:v>
                </c:pt>
                <c:pt idx="18">
                  <c:v>44044</c:v>
                </c:pt>
                <c:pt idx="19">
                  <c:v>44075</c:v>
                </c:pt>
                <c:pt idx="20">
                  <c:v>44105</c:v>
                </c:pt>
              </c:numCache>
            </c:numRef>
          </c:cat>
          <c:val>
            <c:numRef>
              <c:f>Planilha1!$B$2:$B$22</c:f>
              <c:numCache>
                <c:formatCode>General</c:formatCode>
                <c:ptCount val="21"/>
                <c:pt idx="0">
                  <c:v>704</c:v>
                </c:pt>
                <c:pt idx="1">
                  <c:v>671</c:v>
                </c:pt>
                <c:pt idx="2">
                  <c:v>747</c:v>
                </c:pt>
                <c:pt idx="3">
                  <c:v>808</c:v>
                </c:pt>
                <c:pt idx="4">
                  <c:v>529</c:v>
                </c:pt>
                <c:pt idx="5">
                  <c:v>561</c:v>
                </c:pt>
                <c:pt idx="6">
                  <c:v>590</c:v>
                </c:pt>
                <c:pt idx="7">
                  <c:v>483</c:v>
                </c:pt>
                <c:pt idx="8">
                  <c:v>512</c:v>
                </c:pt>
                <c:pt idx="9">
                  <c:v>422</c:v>
                </c:pt>
                <c:pt idx="10">
                  <c:v>213</c:v>
                </c:pt>
                <c:pt idx="11">
                  <c:v>302</c:v>
                </c:pt>
                <c:pt idx="12">
                  <c:v>191</c:v>
                </c:pt>
                <c:pt idx="13">
                  <c:v>195</c:v>
                </c:pt>
                <c:pt idx="14">
                  <c:v>178</c:v>
                </c:pt>
                <c:pt idx="15">
                  <c:v>269</c:v>
                </c:pt>
                <c:pt idx="16">
                  <c:v>417</c:v>
                </c:pt>
                <c:pt idx="17">
                  <c:v>668</c:v>
                </c:pt>
                <c:pt idx="18">
                  <c:v>638</c:v>
                </c:pt>
                <c:pt idx="19">
                  <c:v>554</c:v>
                </c:pt>
                <c:pt idx="20">
                  <c:v>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18-45AF-97FF-4F7BDCB17BF2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Refiliações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Planilha1!$A$2:$A$22</c:f>
              <c:numCache>
                <c:formatCode>mmm\-yy</c:formatCode>
                <c:ptCount val="21"/>
                <c:pt idx="0">
                  <c:v>43497</c:v>
                </c:pt>
                <c:pt idx="1">
                  <c:v>43525</c:v>
                </c:pt>
                <c:pt idx="2">
                  <c:v>43556</c:v>
                </c:pt>
                <c:pt idx="3">
                  <c:v>43586</c:v>
                </c:pt>
                <c:pt idx="4">
                  <c:v>43617</c:v>
                </c:pt>
                <c:pt idx="5">
                  <c:v>43647</c:v>
                </c:pt>
                <c:pt idx="6">
                  <c:v>43678</c:v>
                </c:pt>
                <c:pt idx="7">
                  <c:v>43709</c:v>
                </c:pt>
                <c:pt idx="8">
                  <c:v>43739</c:v>
                </c:pt>
                <c:pt idx="9">
                  <c:v>43770</c:v>
                </c:pt>
                <c:pt idx="10">
                  <c:v>43800</c:v>
                </c:pt>
                <c:pt idx="11">
                  <c:v>43831</c:v>
                </c:pt>
                <c:pt idx="12">
                  <c:v>43862</c:v>
                </c:pt>
                <c:pt idx="13">
                  <c:v>43891</c:v>
                </c:pt>
                <c:pt idx="14">
                  <c:v>43922</c:v>
                </c:pt>
                <c:pt idx="15">
                  <c:v>43952</c:v>
                </c:pt>
                <c:pt idx="16">
                  <c:v>43983</c:v>
                </c:pt>
                <c:pt idx="17" formatCode="m/d/yyyy">
                  <c:v>44013</c:v>
                </c:pt>
                <c:pt idx="18">
                  <c:v>44044</c:v>
                </c:pt>
                <c:pt idx="19">
                  <c:v>44075</c:v>
                </c:pt>
                <c:pt idx="20">
                  <c:v>44105</c:v>
                </c:pt>
              </c:numCache>
            </c:numRef>
          </c:cat>
          <c:val>
            <c:numRef>
              <c:f>Planilha1!$C$2:$C$22</c:f>
              <c:numCache>
                <c:formatCode>General</c:formatCode>
                <c:ptCount val="21"/>
                <c:pt idx="0">
                  <c:v>2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7</c:v>
                </c:pt>
                <c:pt idx="10">
                  <c:v>3</c:v>
                </c:pt>
                <c:pt idx="11">
                  <c:v>7</c:v>
                </c:pt>
                <c:pt idx="12">
                  <c:v>14</c:v>
                </c:pt>
                <c:pt idx="13">
                  <c:v>9</c:v>
                </c:pt>
                <c:pt idx="14">
                  <c:v>87</c:v>
                </c:pt>
                <c:pt idx="15">
                  <c:v>71</c:v>
                </c:pt>
                <c:pt idx="16">
                  <c:v>84</c:v>
                </c:pt>
                <c:pt idx="17">
                  <c:v>75</c:v>
                </c:pt>
                <c:pt idx="18">
                  <c:v>56</c:v>
                </c:pt>
                <c:pt idx="19">
                  <c:v>75</c:v>
                </c:pt>
                <c:pt idx="20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18-45AF-97FF-4F7BDCB17B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7953440"/>
        <c:axId val="387956576"/>
      </c:barChart>
      <c:dateAx>
        <c:axId val="38795344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956576"/>
        <c:crosses val="autoZero"/>
        <c:auto val="1"/>
        <c:lblOffset val="100"/>
        <c:baseTimeUnit val="months"/>
      </c:dateAx>
      <c:valAx>
        <c:axId val="3879565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8795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ENEL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Planilha1!$A$2:$A$22</c:f>
              <c:numCache>
                <c:formatCode>mmm\-yy</c:formatCode>
                <c:ptCount val="21"/>
                <c:pt idx="0">
                  <c:v>43497</c:v>
                </c:pt>
                <c:pt idx="1">
                  <c:v>43525</c:v>
                </c:pt>
                <c:pt idx="2">
                  <c:v>43556</c:v>
                </c:pt>
                <c:pt idx="3">
                  <c:v>43586</c:v>
                </c:pt>
                <c:pt idx="4">
                  <c:v>43617</c:v>
                </c:pt>
                <c:pt idx="5">
                  <c:v>43647</c:v>
                </c:pt>
                <c:pt idx="6">
                  <c:v>43678</c:v>
                </c:pt>
                <c:pt idx="7">
                  <c:v>43709</c:v>
                </c:pt>
                <c:pt idx="8">
                  <c:v>43739</c:v>
                </c:pt>
                <c:pt idx="9">
                  <c:v>43770</c:v>
                </c:pt>
                <c:pt idx="10">
                  <c:v>43800</c:v>
                </c:pt>
                <c:pt idx="11">
                  <c:v>43831</c:v>
                </c:pt>
                <c:pt idx="12">
                  <c:v>43862</c:v>
                </c:pt>
                <c:pt idx="13">
                  <c:v>43891</c:v>
                </c:pt>
                <c:pt idx="14">
                  <c:v>43922</c:v>
                </c:pt>
                <c:pt idx="15">
                  <c:v>43952</c:v>
                </c:pt>
                <c:pt idx="16">
                  <c:v>43983</c:v>
                </c:pt>
                <c:pt idx="17" formatCode="m/d/yyyy">
                  <c:v>44013</c:v>
                </c:pt>
                <c:pt idx="18">
                  <c:v>44044</c:v>
                </c:pt>
                <c:pt idx="19">
                  <c:v>44075</c:v>
                </c:pt>
                <c:pt idx="20">
                  <c:v>44105</c:v>
                </c:pt>
              </c:numCache>
            </c:numRef>
          </c:cat>
          <c:val>
            <c:numRef>
              <c:f>Planilha1!$B$2:$B$22</c:f>
              <c:numCache>
                <c:formatCode>General</c:formatCode>
                <c:ptCount val="21"/>
                <c:pt idx="0">
                  <c:v>120</c:v>
                </c:pt>
                <c:pt idx="1">
                  <c:v>110</c:v>
                </c:pt>
                <c:pt idx="2">
                  <c:v>122</c:v>
                </c:pt>
                <c:pt idx="3">
                  <c:v>98</c:v>
                </c:pt>
                <c:pt idx="4">
                  <c:v>70</c:v>
                </c:pt>
                <c:pt idx="5">
                  <c:v>72</c:v>
                </c:pt>
                <c:pt idx="6">
                  <c:v>95</c:v>
                </c:pt>
                <c:pt idx="7">
                  <c:v>65</c:v>
                </c:pt>
                <c:pt idx="8">
                  <c:v>59</c:v>
                </c:pt>
                <c:pt idx="9">
                  <c:v>40</c:v>
                </c:pt>
                <c:pt idx="10">
                  <c:v>30</c:v>
                </c:pt>
                <c:pt idx="11">
                  <c:v>44</c:v>
                </c:pt>
                <c:pt idx="12">
                  <c:v>39</c:v>
                </c:pt>
                <c:pt idx="13">
                  <c:v>15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3-4304-977E-C5BA7E0F5E9E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CAIXA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Planilha1!$A$2:$A$22</c:f>
              <c:numCache>
                <c:formatCode>mmm\-yy</c:formatCode>
                <c:ptCount val="21"/>
                <c:pt idx="0">
                  <c:v>43497</c:v>
                </c:pt>
                <c:pt idx="1">
                  <c:v>43525</c:v>
                </c:pt>
                <c:pt idx="2">
                  <c:v>43556</c:v>
                </c:pt>
                <c:pt idx="3">
                  <c:v>43586</c:v>
                </c:pt>
                <c:pt idx="4">
                  <c:v>43617</c:v>
                </c:pt>
                <c:pt idx="5">
                  <c:v>43647</c:v>
                </c:pt>
                <c:pt idx="6">
                  <c:v>43678</c:v>
                </c:pt>
                <c:pt idx="7">
                  <c:v>43709</c:v>
                </c:pt>
                <c:pt idx="8">
                  <c:v>43739</c:v>
                </c:pt>
                <c:pt idx="9">
                  <c:v>43770</c:v>
                </c:pt>
                <c:pt idx="10">
                  <c:v>43800</c:v>
                </c:pt>
                <c:pt idx="11">
                  <c:v>43831</c:v>
                </c:pt>
                <c:pt idx="12">
                  <c:v>43862</c:v>
                </c:pt>
                <c:pt idx="13">
                  <c:v>43891</c:v>
                </c:pt>
                <c:pt idx="14">
                  <c:v>43922</c:v>
                </c:pt>
                <c:pt idx="15">
                  <c:v>43952</c:v>
                </c:pt>
                <c:pt idx="16">
                  <c:v>43983</c:v>
                </c:pt>
                <c:pt idx="17" formatCode="m/d/yyyy">
                  <c:v>44013</c:v>
                </c:pt>
                <c:pt idx="18">
                  <c:v>44044</c:v>
                </c:pt>
                <c:pt idx="19">
                  <c:v>44075</c:v>
                </c:pt>
                <c:pt idx="20">
                  <c:v>44105</c:v>
                </c:pt>
              </c:numCache>
            </c:numRef>
          </c:cat>
          <c:val>
            <c:numRef>
              <c:f>Planilha1!$C$2:$C$22</c:f>
              <c:numCache>
                <c:formatCode>General</c:formatCode>
                <c:ptCount val="21"/>
                <c:pt idx="0">
                  <c:v>167</c:v>
                </c:pt>
                <c:pt idx="1">
                  <c:v>162</c:v>
                </c:pt>
                <c:pt idx="2">
                  <c:v>204</c:v>
                </c:pt>
                <c:pt idx="3">
                  <c:v>212</c:v>
                </c:pt>
                <c:pt idx="4">
                  <c:v>133</c:v>
                </c:pt>
                <c:pt idx="5">
                  <c:v>123</c:v>
                </c:pt>
                <c:pt idx="6">
                  <c:v>112</c:v>
                </c:pt>
                <c:pt idx="7">
                  <c:v>124</c:v>
                </c:pt>
                <c:pt idx="8">
                  <c:v>127</c:v>
                </c:pt>
                <c:pt idx="9">
                  <c:v>97</c:v>
                </c:pt>
                <c:pt idx="10">
                  <c:v>21</c:v>
                </c:pt>
                <c:pt idx="11">
                  <c:v>34</c:v>
                </c:pt>
                <c:pt idx="12">
                  <c:v>46</c:v>
                </c:pt>
                <c:pt idx="13">
                  <c:v>44</c:v>
                </c:pt>
                <c:pt idx="14">
                  <c:v>7</c:v>
                </c:pt>
                <c:pt idx="15">
                  <c:v>6</c:v>
                </c:pt>
                <c:pt idx="16">
                  <c:v>11</c:v>
                </c:pt>
                <c:pt idx="1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33-4304-977E-C5BA7E0F5E9E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CARTÃO DE CRÉDITO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Planilha1!$A$2:$A$22</c:f>
              <c:numCache>
                <c:formatCode>mmm\-yy</c:formatCode>
                <c:ptCount val="21"/>
                <c:pt idx="0">
                  <c:v>43497</c:v>
                </c:pt>
                <c:pt idx="1">
                  <c:v>43525</c:v>
                </c:pt>
                <c:pt idx="2">
                  <c:v>43556</c:v>
                </c:pt>
                <c:pt idx="3">
                  <c:v>43586</c:v>
                </c:pt>
                <c:pt idx="4">
                  <c:v>43617</c:v>
                </c:pt>
                <c:pt idx="5">
                  <c:v>43647</c:v>
                </c:pt>
                <c:pt idx="6">
                  <c:v>43678</c:v>
                </c:pt>
                <c:pt idx="7">
                  <c:v>43709</c:v>
                </c:pt>
                <c:pt idx="8">
                  <c:v>43739</c:v>
                </c:pt>
                <c:pt idx="9">
                  <c:v>43770</c:v>
                </c:pt>
                <c:pt idx="10">
                  <c:v>43800</c:v>
                </c:pt>
                <c:pt idx="11">
                  <c:v>43831</c:v>
                </c:pt>
                <c:pt idx="12">
                  <c:v>43862</c:v>
                </c:pt>
                <c:pt idx="13">
                  <c:v>43891</c:v>
                </c:pt>
                <c:pt idx="14">
                  <c:v>43922</c:v>
                </c:pt>
                <c:pt idx="15">
                  <c:v>43952</c:v>
                </c:pt>
                <c:pt idx="16">
                  <c:v>43983</c:v>
                </c:pt>
                <c:pt idx="17" formatCode="m/d/yyyy">
                  <c:v>44013</c:v>
                </c:pt>
                <c:pt idx="18">
                  <c:v>44044</c:v>
                </c:pt>
                <c:pt idx="19">
                  <c:v>44075</c:v>
                </c:pt>
                <c:pt idx="20">
                  <c:v>44105</c:v>
                </c:pt>
              </c:numCache>
            </c:numRef>
          </c:cat>
          <c:val>
            <c:numRef>
              <c:f>Planilha1!$D$2:$D$22</c:f>
              <c:numCache>
                <c:formatCode>General</c:formatCode>
                <c:ptCount val="21"/>
                <c:pt idx="0">
                  <c:v>418</c:v>
                </c:pt>
                <c:pt idx="1">
                  <c:v>397</c:v>
                </c:pt>
                <c:pt idx="2">
                  <c:v>421</c:v>
                </c:pt>
                <c:pt idx="3">
                  <c:v>498</c:v>
                </c:pt>
                <c:pt idx="4">
                  <c:v>326</c:v>
                </c:pt>
                <c:pt idx="5">
                  <c:v>366</c:v>
                </c:pt>
                <c:pt idx="6">
                  <c:v>381</c:v>
                </c:pt>
                <c:pt idx="7">
                  <c:v>294</c:v>
                </c:pt>
                <c:pt idx="8">
                  <c:v>453</c:v>
                </c:pt>
                <c:pt idx="9">
                  <c:v>285</c:v>
                </c:pt>
                <c:pt idx="10">
                  <c:v>161</c:v>
                </c:pt>
                <c:pt idx="11">
                  <c:v>229</c:v>
                </c:pt>
                <c:pt idx="12">
                  <c:v>118</c:v>
                </c:pt>
                <c:pt idx="13">
                  <c:v>145</c:v>
                </c:pt>
                <c:pt idx="14">
                  <c:v>229</c:v>
                </c:pt>
                <c:pt idx="15">
                  <c:v>334</c:v>
                </c:pt>
                <c:pt idx="16">
                  <c:v>486</c:v>
                </c:pt>
                <c:pt idx="17">
                  <c:v>741</c:v>
                </c:pt>
                <c:pt idx="18">
                  <c:v>694</c:v>
                </c:pt>
                <c:pt idx="19">
                  <c:v>629</c:v>
                </c:pt>
                <c:pt idx="20">
                  <c:v>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33-4304-977E-C5BA7E0F5E9E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OUTROS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Planilha1!$A$2:$A$22</c:f>
              <c:numCache>
                <c:formatCode>mmm\-yy</c:formatCode>
                <c:ptCount val="21"/>
                <c:pt idx="0">
                  <c:v>43497</c:v>
                </c:pt>
                <c:pt idx="1">
                  <c:v>43525</c:v>
                </c:pt>
                <c:pt idx="2">
                  <c:v>43556</c:v>
                </c:pt>
                <c:pt idx="3">
                  <c:v>43586</c:v>
                </c:pt>
                <c:pt idx="4">
                  <c:v>43617</c:v>
                </c:pt>
                <c:pt idx="5">
                  <c:v>43647</c:v>
                </c:pt>
                <c:pt idx="6">
                  <c:v>43678</c:v>
                </c:pt>
                <c:pt idx="7">
                  <c:v>43709</c:v>
                </c:pt>
                <c:pt idx="8">
                  <c:v>43739</c:v>
                </c:pt>
                <c:pt idx="9">
                  <c:v>43770</c:v>
                </c:pt>
                <c:pt idx="10">
                  <c:v>43800</c:v>
                </c:pt>
                <c:pt idx="11">
                  <c:v>43831</c:v>
                </c:pt>
                <c:pt idx="12">
                  <c:v>43862</c:v>
                </c:pt>
                <c:pt idx="13">
                  <c:v>43891</c:v>
                </c:pt>
                <c:pt idx="14">
                  <c:v>43922</c:v>
                </c:pt>
                <c:pt idx="15">
                  <c:v>43952</c:v>
                </c:pt>
                <c:pt idx="16">
                  <c:v>43983</c:v>
                </c:pt>
                <c:pt idx="17" formatCode="m/d/yyyy">
                  <c:v>44013</c:v>
                </c:pt>
                <c:pt idx="18">
                  <c:v>44044</c:v>
                </c:pt>
                <c:pt idx="19">
                  <c:v>44075</c:v>
                </c:pt>
                <c:pt idx="20">
                  <c:v>44105</c:v>
                </c:pt>
              </c:numCache>
            </c:numRef>
          </c:cat>
          <c:val>
            <c:numRef>
              <c:f>Planilha1!$E$2:$E$22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4">
                  <c:v>29</c:v>
                </c:pt>
                <c:pt idx="16">
                  <c:v>4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33-4304-977E-C5BA7E0F5E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7958928"/>
        <c:axId val="387958144"/>
      </c:barChart>
      <c:dateAx>
        <c:axId val="38795892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958144"/>
        <c:crosses val="autoZero"/>
        <c:auto val="1"/>
        <c:lblOffset val="100"/>
        <c:baseTimeUnit val="months"/>
      </c:dateAx>
      <c:valAx>
        <c:axId val="387958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8795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2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DF-411C-AAF8-5DF2AFB3D4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Planilha1!$A$2:$A$18</c:f>
              <c:numCache>
                <c:formatCode>mmm/yy</c:formatCode>
                <c:ptCount val="17"/>
                <c:pt idx="0">
                  <c:v>43617</c:v>
                </c:pt>
                <c:pt idx="1">
                  <c:v>43647</c:v>
                </c:pt>
                <c:pt idx="2">
                  <c:v>43678</c:v>
                </c:pt>
                <c:pt idx="3">
                  <c:v>43709</c:v>
                </c:pt>
                <c:pt idx="4">
                  <c:v>43739</c:v>
                </c:pt>
                <c:pt idx="5">
                  <c:v>43770</c:v>
                </c:pt>
                <c:pt idx="6">
                  <c:v>43800</c:v>
                </c:pt>
                <c:pt idx="7">
                  <c:v>43831</c:v>
                </c:pt>
                <c:pt idx="8">
                  <c:v>43862</c:v>
                </c:pt>
                <c:pt idx="9">
                  <c:v>43891</c:v>
                </c:pt>
                <c:pt idx="10">
                  <c:v>43922</c:v>
                </c:pt>
                <c:pt idx="11">
                  <c:v>43952</c:v>
                </c:pt>
                <c:pt idx="12">
                  <c:v>43983</c:v>
                </c:pt>
                <c:pt idx="13">
                  <c:v>44013</c:v>
                </c:pt>
                <c:pt idx="14">
                  <c:v>44044</c:v>
                </c:pt>
                <c:pt idx="15">
                  <c:v>44075</c:v>
                </c:pt>
                <c:pt idx="16">
                  <c:v>44105</c:v>
                </c:pt>
              </c:numCache>
            </c:numRef>
          </c:cat>
          <c:val>
            <c:numRef>
              <c:f>Planilha1!$B$2:$B$18</c:f>
              <c:numCache>
                <c:formatCode>#,##0</c:formatCode>
                <c:ptCount val="17"/>
                <c:pt idx="0">
                  <c:v>10629</c:v>
                </c:pt>
                <c:pt idx="1">
                  <c:v>11713</c:v>
                </c:pt>
                <c:pt idx="2">
                  <c:v>12105</c:v>
                </c:pt>
                <c:pt idx="3">
                  <c:v>12426</c:v>
                </c:pt>
                <c:pt idx="4">
                  <c:v>12736</c:v>
                </c:pt>
                <c:pt idx="5">
                  <c:v>12582</c:v>
                </c:pt>
                <c:pt idx="6">
                  <c:v>12448</c:v>
                </c:pt>
                <c:pt idx="7">
                  <c:v>11489</c:v>
                </c:pt>
                <c:pt idx="8">
                  <c:v>10877</c:v>
                </c:pt>
                <c:pt idx="9">
                  <c:v>11203</c:v>
                </c:pt>
                <c:pt idx="10">
                  <c:v>11085</c:v>
                </c:pt>
                <c:pt idx="11">
                  <c:v>11068</c:v>
                </c:pt>
                <c:pt idx="12" formatCode="General">
                  <c:v>13060</c:v>
                </c:pt>
                <c:pt idx="13" formatCode="General">
                  <c:v>14345</c:v>
                </c:pt>
                <c:pt idx="14" formatCode="General">
                  <c:v>14033</c:v>
                </c:pt>
                <c:pt idx="15" formatCode="General">
                  <c:v>15134</c:v>
                </c:pt>
                <c:pt idx="16" formatCode="General">
                  <c:v>15683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77-4AF1-B296-07AD72D938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9243728"/>
        <c:axId val="389246864"/>
      </c:barChart>
      <c:dateAx>
        <c:axId val="389243728"/>
        <c:scaling>
          <c:orientation val="minMax"/>
        </c:scaling>
        <c:delete val="0"/>
        <c:axPos val="b"/>
        <c:numFmt formatCode="mmm/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6864"/>
        <c:crosses val="autoZero"/>
        <c:auto val="1"/>
        <c:lblOffset val="100"/>
        <c:baseTimeUnit val="months"/>
      </c:dateAx>
      <c:valAx>
        <c:axId val="3892468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8924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ENEL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Planilha1!$A$2:$A$24</c:f>
              <c:numCache>
                <c:formatCode>General</c:formatCode>
                <c:ptCount val="23"/>
                <c:pt idx="6" formatCode="mmm/yy">
                  <c:v>43617</c:v>
                </c:pt>
                <c:pt idx="7" formatCode="mmm/yy">
                  <c:v>43647</c:v>
                </c:pt>
                <c:pt idx="8" formatCode="mmm/yy">
                  <c:v>43678</c:v>
                </c:pt>
                <c:pt idx="9" formatCode="mmm/yy">
                  <c:v>43709</c:v>
                </c:pt>
                <c:pt idx="10" formatCode="mmm/yy">
                  <c:v>43739</c:v>
                </c:pt>
                <c:pt idx="11" formatCode="mmm/yy">
                  <c:v>43770</c:v>
                </c:pt>
                <c:pt idx="12" formatCode="mmm/yy">
                  <c:v>43800</c:v>
                </c:pt>
                <c:pt idx="13" formatCode="mmm/yy">
                  <c:v>43831</c:v>
                </c:pt>
                <c:pt idx="14" formatCode="mmm/yy">
                  <c:v>43862</c:v>
                </c:pt>
                <c:pt idx="15" formatCode="mmm/yy">
                  <c:v>43891</c:v>
                </c:pt>
                <c:pt idx="16" formatCode="mmm/yy">
                  <c:v>43922</c:v>
                </c:pt>
                <c:pt idx="17" formatCode="mmm/yy">
                  <c:v>43952</c:v>
                </c:pt>
                <c:pt idx="18" formatCode="mmm/yy">
                  <c:v>43983</c:v>
                </c:pt>
                <c:pt idx="19" formatCode="mmm/yy">
                  <c:v>44013</c:v>
                </c:pt>
                <c:pt idx="20" formatCode="mmm/yy">
                  <c:v>44044</c:v>
                </c:pt>
                <c:pt idx="21" formatCode="mmm/yy">
                  <c:v>44075</c:v>
                </c:pt>
                <c:pt idx="22" formatCode="mmm/yy">
                  <c:v>44105</c:v>
                </c:pt>
              </c:numCache>
            </c:numRef>
          </c:cat>
          <c:val>
            <c:numRef>
              <c:f>Planilha1!$B$2:$B$24</c:f>
              <c:numCache>
                <c:formatCode>General</c:formatCode>
                <c:ptCount val="23"/>
                <c:pt idx="6" formatCode="#,##0">
                  <c:v>2056</c:v>
                </c:pt>
                <c:pt idx="7" formatCode="#,##0">
                  <c:v>2241</c:v>
                </c:pt>
                <c:pt idx="8" formatCode="#,##0">
                  <c:v>2271</c:v>
                </c:pt>
                <c:pt idx="9" formatCode="#,##0">
                  <c:v>2143</c:v>
                </c:pt>
                <c:pt idx="10" formatCode="#,##0">
                  <c:v>2246</c:v>
                </c:pt>
                <c:pt idx="11" formatCode="#,##0">
                  <c:v>2705</c:v>
                </c:pt>
                <c:pt idx="12" formatCode="#,##0">
                  <c:v>2680</c:v>
                </c:pt>
                <c:pt idx="13" formatCode="#,##0">
                  <c:v>1822</c:v>
                </c:pt>
                <c:pt idx="14" formatCode="#,##0">
                  <c:v>1954</c:v>
                </c:pt>
                <c:pt idx="15">
                  <c:v>2199</c:v>
                </c:pt>
                <c:pt idx="16">
                  <c:v>1728</c:v>
                </c:pt>
                <c:pt idx="17">
                  <c:v>1902</c:v>
                </c:pt>
                <c:pt idx="18">
                  <c:v>1846</c:v>
                </c:pt>
                <c:pt idx="19">
                  <c:v>2214</c:v>
                </c:pt>
                <c:pt idx="20">
                  <c:v>2303</c:v>
                </c:pt>
                <c:pt idx="21">
                  <c:v>2164</c:v>
                </c:pt>
                <c:pt idx="22">
                  <c:v>2088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47-4988-A910-9E6E7ACAE038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CAIXA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Planilha1!$A$2:$A$24</c:f>
              <c:numCache>
                <c:formatCode>General</c:formatCode>
                <c:ptCount val="23"/>
                <c:pt idx="6" formatCode="mmm/yy">
                  <c:v>43617</c:v>
                </c:pt>
                <c:pt idx="7" formatCode="mmm/yy">
                  <c:v>43647</c:v>
                </c:pt>
                <c:pt idx="8" formatCode="mmm/yy">
                  <c:v>43678</c:v>
                </c:pt>
                <c:pt idx="9" formatCode="mmm/yy">
                  <c:v>43709</c:v>
                </c:pt>
                <c:pt idx="10" formatCode="mmm/yy">
                  <c:v>43739</c:v>
                </c:pt>
                <c:pt idx="11" formatCode="mmm/yy">
                  <c:v>43770</c:v>
                </c:pt>
                <c:pt idx="12" formatCode="mmm/yy">
                  <c:v>43800</c:v>
                </c:pt>
                <c:pt idx="13" formatCode="mmm/yy">
                  <c:v>43831</c:v>
                </c:pt>
                <c:pt idx="14" formatCode="mmm/yy">
                  <c:v>43862</c:v>
                </c:pt>
                <c:pt idx="15" formatCode="mmm/yy">
                  <c:v>43891</c:v>
                </c:pt>
                <c:pt idx="16" formatCode="mmm/yy">
                  <c:v>43922</c:v>
                </c:pt>
                <c:pt idx="17" formatCode="mmm/yy">
                  <c:v>43952</c:v>
                </c:pt>
                <c:pt idx="18" formatCode="mmm/yy">
                  <c:v>43983</c:v>
                </c:pt>
                <c:pt idx="19" formatCode="mmm/yy">
                  <c:v>44013</c:v>
                </c:pt>
                <c:pt idx="20" formatCode="mmm/yy">
                  <c:v>44044</c:v>
                </c:pt>
                <c:pt idx="21" formatCode="mmm/yy">
                  <c:v>44075</c:v>
                </c:pt>
                <c:pt idx="22" formatCode="mmm/yy">
                  <c:v>44105</c:v>
                </c:pt>
              </c:numCache>
            </c:numRef>
          </c:cat>
          <c:val>
            <c:numRef>
              <c:f>Planilha1!$C$2:$C$24</c:f>
              <c:numCache>
                <c:formatCode>General</c:formatCode>
                <c:ptCount val="23"/>
                <c:pt idx="6" formatCode="#,##0">
                  <c:v>2088</c:v>
                </c:pt>
                <c:pt idx="7" formatCode="#,##0">
                  <c:v>2320</c:v>
                </c:pt>
                <c:pt idx="8" formatCode="#,##0">
                  <c:v>2251</c:v>
                </c:pt>
                <c:pt idx="9" formatCode="#,##0">
                  <c:v>2514</c:v>
                </c:pt>
                <c:pt idx="10" formatCode="#,##0">
                  <c:v>2977</c:v>
                </c:pt>
                <c:pt idx="11" formatCode="#,##0">
                  <c:v>2551</c:v>
                </c:pt>
                <c:pt idx="12">
                  <c:v>2591</c:v>
                </c:pt>
                <c:pt idx="13">
                  <c:v>2466</c:v>
                </c:pt>
                <c:pt idx="14" formatCode="#,##0">
                  <c:v>2391</c:v>
                </c:pt>
                <c:pt idx="15">
                  <c:v>2460</c:v>
                </c:pt>
                <c:pt idx="16">
                  <c:v>2164</c:v>
                </c:pt>
                <c:pt idx="17">
                  <c:v>1992</c:v>
                </c:pt>
                <c:pt idx="18">
                  <c:v>2091</c:v>
                </c:pt>
                <c:pt idx="19">
                  <c:v>2143</c:v>
                </c:pt>
                <c:pt idx="20">
                  <c:v>1648</c:v>
                </c:pt>
                <c:pt idx="21">
                  <c:v>1981</c:v>
                </c:pt>
                <c:pt idx="22">
                  <c:v>2240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47-4988-A910-9E6E7ACAE038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CARTÃO DE CRÉDITO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Planilha1!$A$2:$A$24</c:f>
              <c:numCache>
                <c:formatCode>General</c:formatCode>
                <c:ptCount val="23"/>
                <c:pt idx="6" formatCode="mmm/yy">
                  <c:v>43617</c:v>
                </c:pt>
                <c:pt idx="7" formatCode="mmm/yy">
                  <c:v>43647</c:v>
                </c:pt>
                <c:pt idx="8" formatCode="mmm/yy">
                  <c:v>43678</c:v>
                </c:pt>
                <c:pt idx="9" formatCode="mmm/yy">
                  <c:v>43709</c:v>
                </c:pt>
                <c:pt idx="10" formatCode="mmm/yy">
                  <c:v>43739</c:v>
                </c:pt>
                <c:pt idx="11" formatCode="mmm/yy">
                  <c:v>43770</c:v>
                </c:pt>
                <c:pt idx="12" formatCode="mmm/yy">
                  <c:v>43800</c:v>
                </c:pt>
                <c:pt idx="13" formatCode="mmm/yy">
                  <c:v>43831</c:v>
                </c:pt>
                <c:pt idx="14" formatCode="mmm/yy">
                  <c:v>43862</c:v>
                </c:pt>
                <c:pt idx="15" formatCode="mmm/yy">
                  <c:v>43891</c:v>
                </c:pt>
                <c:pt idx="16" formatCode="mmm/yy">
                  <c:v>43922</c:v>
                </c:pt>
                <c:pt idx="17" formatCode="mmm/yy">
                  <c:v>43952</c:v>
                </c:pt>
                <c:pt idx="18" formatCode="mmm/yy">
                  <c:v>43983</c:v>
                </c:pt>
                <c:pt idx="19" formatCode="mmm/yy">
                  <c:v>44013</c:v>
                </c:pt>
                <c:pt idx="20" formatCode="mmm/yy">
                  <c:v>44044</c:v>
                </c:pt>
                <c:pt idx="21" formatCode="mmm/yy">
                  <c:v>44075</c:v>
                </c:pt>
                <c:pt idx="22" formatCode="mmm/yy">
                  <c:v>44105</c:v>
                </c:pt>
              </c:numCache>
            </c:numRef>
          </c:cat>
          <c:val>
            <c:numRef>
              <c:f>Planilha1!$D$2:$D$24</c:f>
              <c:numCache>
                <c:formatCode>General</c:formatCode>
                <c:ptCount val="23"/>
                <c:pt idx="6" formatCode="#,##0">
                  <c:v>4947</c:v>
                </c:pt>
                <c:pt idx="7" formatCode="#,##0">
                  <c:v>5126</c:v>
                </c:pt>
                <c:pt idx="8" formatCode="#,##0">
                  <c:v>5362</c:v>
                </c:pt>
                <c:pt idx="9" formatCode="#,##0">
                  <c:v>5602</c:v>
                </c:pt>
                <c:pt idx="10" formatCode="#,##0">
                  <c:v>5915</c:v>
                </c:pt>
                <c:pt idx="11" formatCode="#,##0">
                  <c:v>6055</c:v>
                </c:pt>
                <c:pt idx="12" formatCode="#,##0">
                  <c:v>5949</c:v>
                </c:pt>
                <c:pt idx="13" formatCode="#,##0">
                  <c:v>6054</c:v>
                </c:pt>
                <c:pt idx="14" formatCode="#,##0">
                  <c:v>5698</c:v>
                </c:pt>
                <c:pt idx="15">
                  <c:v>5623</c:v>
                </c:pt>
                <c:pt idx="16">
                  <c:v>5612</c:v>
                </c:pt>
                <c:pt idx="17">
                  <c:v>5801</c:v>
                </c:pt>
                <c:pt idx="18">
                  <c:v>6183</c:v>
                </c:pt>
                <c:pt idx="19">
                  <c:v>6810</c:v>
                </c:pt>
                <c:pt idx="20">
                  <c:v>7279</c:v>
                </c:pt>
                <c:pt idx="21">
                  <c:v>7384</c:v>
                </c:pt>
                <c:pt idx="22">
                  <c:v>8040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47-4988-A910-9E6E7ACAE038}"/>
            </c:ext>
          </c:extLst>
        </c:ser>
        <c:ser>
          <c:idx val="3"/>
          <c:order val="3"/>
          <c:tx>
            <c:strRef>
              <c:f>Planilha1!$E$1</c:f>
              <c:strCache>
                <c:ptCount val="1"/>
                <c:pt idx="0">
                  <c:v>COBRANÇA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Planilha1!$A$2:$A$24</c:f>
              <c:numCache>
                <c:formatCode>General</c:formatCode>
                <c:ptCount val="23"/>
                <c:pt idx="6" formatCode="mmm/yy">
                  <c:v>43617</c:v>
                </c:pt>
                <c:pt idx="7" formatCode="mmm/yy">
                  <c:v>43647</c:v>
                </c:pt>
                <c:pt idx="8" formatCode="mmm/yy">
                  <c:v>43678</c:v>
                </c:pt>
                <c:pt idx="9" formatCode="mmm/yy">
                  <c:v>43709</c:v>
                </c:pt>
                <c:pt idx="10" formatCode="mmm/yy">
                  <c:v>43739</c:v>
                </c:pt>
                <c:pt idx="11" formatCode="mmm/yy">
                  <c:v>43770</c:v>
                </c:pt>
                <c:pt idx="12" formatCode="mmm/yy">
                  <c:v>43800</c:v>
                </c:pt>
                <c:pt idx="13" formatCode="mmm/yy">
                  <c:v>43831</c:v>
                </c:pt>
                <c:pt idx="14" formatCode="mmm/yy">
                  <c:v>43862</c:v>
                </c:pt>
                <c:pt idx="15" formatCode="mmm/yy">
                  <c:v>43891</c:v>
                </c:pt>
                <c:pt idx="16" formatCode="mmm/yy">
                  <c:v>43922</c:v>
                </c:pt>
                <c:pt idx="17" formatCode="mmm/yy">
                  <c:v>43952</c:v>
                </c:pt>
                <c:pt idx="18" formatCode="mmm/yy">
                  <c:v>43983</c:v>
                </c:pt>
                <c:pt idx="19" formatCode="mmm/yy">
                  <c:v>44013</c:v>
                </c:pt>
                <c:pt idx="20" formatCode="mmm/yy">
                  <c:v>44044</c:v>
                </c:pt>
                <c:pt idx="21" formatCode="mmm/yy">
                  <c:v>44075</c:v>
                </c:pt>
                <c:pt idx="22" formatCode="mmm/yy">
                  <c:v>44105</c:v>
                </c:pt>
              </c:numCache>
            </c:numRef>
          </c:cat>
          <c:val>
            <c:numRef>
              <c:f>Planilha1!$E$2:$E$24</c:f>
              <c:numCache>
                <c:formatCode>General</c:formatCode>
                <c:ptCount val="23"/>
                <c:pt idx="6" formatCode="#,##0">
                  <c:v>1538</c:v>
                </c:pt>
                <c:pt idx="7" formatCode="#,##0">
                  <c:v>2026</c:v>
                </c:pt>
                <c:pt idx="8" formatCode="#,##0">
                  <c:v>2221</c:v>
                </c:pt>
                <c:pt idx="9" formatCode="#,##0">
                  <c:v>2167</c:v>
                </c:pt>
                <c:pt idx="10" formatCode="#,##0">
                  <c:v>1598</c:v>
                </c:pt>
                <c:pt idx="11" formatCode="#,##0">
                  <c:v>1271</c:v>
                </c:pt>
                <c:pt idx="12" formatCode="#,##0">
                  <c:v>1228</c:v>
                </c:pt>
                <c:pt idx="13" formatCode="#,##0">
                  <c:v>1147</c:v>
                </c:pt>
                <c:pt idx="14" formatCode="#,##0">
                  <c:v>834</c:v>
                </c:pt>
                <c:pt idx="15">
                  <c:v>921</c:v>
                </c:pt>
                <c:pt idx="16">
                  <c:v>1581</c:v>
                </c:pt>
                <c:pt idx="17">
                  <c:v>1373</c:v>
                </c:pt>
                <c:pt idx="18">
                  <c:v>2948</c:v>
                </c:pt>
                <c:pt idx="19">
                  <c:v>3173</c:v>
                </c:pt>
                <c:pt idx="20">
                  <c:v>2803</c:v>
                </c:pt>
                <c:pt idx="21">
                  <c:v>3605</c:v>
                </c:pt>
                <c:pt idx="22">
                  <c:v>3315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47-4988-A910-9E6E7ACAE0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9247648"/>
        <c:axId val="389247256"/>
      </c:barChart>
      <c:dateAx>
        <c:axId val="38924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7256"/>
        <c:crosses val="autoZero"/>
        <c:auto val="1"/>
        <c:lblOffset val="100"/>
        <c:baseTimeUnit val="months"/>
      </c:dateAx>
      <c:valAx>
        <c:axId val="38924725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8924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Homologação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Planilha1!$A$2:$A$24</c:f>
              <c:numCache>
                <c:formatCode>General</c:formatCode>
                <c:ptCount val="23"/>
                <c:pt idx="6" formatCode="mmm/yy">
                  <c:v>43617</c:v>
                </c:pt>
                <c:pt idx="7" formatCode="mmm/yy">
                  <c:v>43647</c:v>
                </c:pt>
                <c:pt idx="8" formatCode="mmm/yy">
                  <c:v>43678</c:v>
                </c:pt>
                <c:pt idx="9" formatCode="mmm/yy">
                  <c:v>43709</c:v>
                </c:pt>
                <c:pt idx="10" formatCode="mmm/yy">
                  <c:v>43739</c:v>
                </c:pt>
                <c:pt idx="11" formatCode="mmm/yy">
                  <c:v>43770</c:v>
                </c:pt>
                <c:pt idx="12" formatCode="mmm/yy">
                  <c:v>43800</c:v>
                </c:pt>
                <c:pt idx="13" formatCode="mmm/yy">
                  <c:v>43831</c:v>
                </c:pt>
                <c:pt idx="14" formatCode="mmm/yy">
                  <c:v>43862</c:v>
                </c:pt>
                <c:pt idx="15" formatCode="mmm/yy">
                  <c:v>43891</c:v>
                </c:pt>
                <c:pt idx="16" formatCode="mmm/yy">
                  <c:v>43922</c:v>
                </c:pt>
                <c:pt idx="17" formatCode="mmm/yy">
                  <c:v>43952</c:v>
                </c:pt>
                <c:pt idx="18" formatCode="mmm/yy">
                  <c:v>43983</c:v>
                </c:pt>
                <c:pt idx="19" formatCode="mmm/yy">
                  <c:v>44013</c:v>
                </c:pt>
                <c:pt idx="20" formatCode="mmm/yy">
                  <c:v>44044</c:v>
                </c:pt>
                <c:pt idx="21" formatCode="mmm/yy">
                  <c:v>44075</c:v>
                </c:pt>
                <c:pt idx="22" formatCode="mmm/yy">
                  <c:v>44105</c:v>
                </c:pt>
              </c:numCache>
            </c:numRef>
          </c:cat>
          <c:val>
            <c:numRef>
              <c:f>Planilha1!$B$2:$B$24</c:f>
              <c:numCache>
                <c:formatCode>General</c:formatCode>
                <c:ptCount val="23"/>
                <c:pt idx="6" formatCode="0%">
                  <c:v>0.99</c:v>
                </c:pt>
                <c:pt idx="7" formatCode="0%">
                  <c:v>0.88</c:v>
                </c:pt>
                <c:pt idx="8" formatCode="0%">
                  <c:v>0.99</c:v>
                </c:pt>
                <c:pt idx="9" formatCode="0%">
                  <c:v>0.9</c:v>
                </c:pt>
                <c:pt idx="10" formatCode="0%">
                  <c:v>0.91</c:v>
                </c:pt>
                <c:pt idx="11" formatCode="0%">
                  <c:v>0.99</c:v>
                </c:pt>
                <c:pt idx="12" formatCode="0%">
                  <c:v>0.99</c:v>
                </c:pt>
                <c:pt idx="13" formatCode="0%">
                  <c:v>0.96</c:v>
                </c:pt>
                <c:pt idx="14" formatCode="0%">
                  <c:v>0.94</c:v>
                </c:pt>
                <c:pt idx="15" formatCode="0%">
                  <c:v>0.93</c:v>
                </c:pt>
                <c:pt idx="16" formatCode="0%">
                  <c:v>0.87</c:v>
                </c:pt>
                <c:pt idx="17" formatCode="0%">
                  <c:v>0.99299999999999999</c:v>
                </c:pt>
                <c:pt idx="18" formatCode="0%">
                  <c:v>0.96089999999999998</c:v>
                </c:pt>
                <c:pt idx="19" formatCode="0%">
                  <c:v>0.99850000000000005</c:v>
                </c:pt>
                <c:pt idx="20" formatCode="0%">
                  <c:v>1</c:v>
                </c:pt>
                <c:pt idx="21" formatCode="0%">
                  <c:v>1</c:v>
                </c:pt>
                <c:pt idx="22" formatCode="0%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0D-4C95-B416-6D0F75A866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9248432"/>
        <c:axId val="389244120"/>
      </c:barChart>
      <c:dateAx>
        <c:axId val="389248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4120"/>
        <c:crosses val="autoZero"/>
        <c:auto val="1"/>
        <c:lblOffset val="100"/>
        <c:baseTimeUnit val="months"/>
      </c:dateAx>
      <c:valAx>
        <c:axId val="389244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924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A4C2D8-2BC9-4077-AFD4-23EF151B28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pt-BR"/>
        </a:p>
      </dgm:t>
    </dgm:pt>
    <dgm:pt modelId="{1552FBA6-D1A3-4046-9421-88E6278735BC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1- CAPTAR O CLIENTE </a:t>
          </a:r>
        </a:p>
      </dgm:t>
    </dgm:pt>
    <dgm:pt modelId="{A0B73F21-1DC2-443E-84B2-3415F9F27563}" type="parTrans" cxnId="{0D3B7979-0EF9-48BD-996C-3166DA032A58}">
      <dgm:prSet/>
      <dgm:spPr/>
      <dgm:t>
        <a:bodyPr/>
        <a:lstStyle/>
        <a:p>
          <a:endParaRPr lang="pt-BR"/>
        </a:p>
      </dgm:t>
    </dgm:pt>
    <dgm:pt modelId="{9B807D10-C368-4813-99EB-E1FE9CB2A926}" type="sibTrans" cxnId="{0D3B7979-0EF9-48BD-996C-3166DA032A58}">
      <dgm:prSet/>
      <dgm:spPr/>
      <dgm:t>
        <a:bodyPr/>
        <a:lstStyle/>
        <a:p>
          <a:endParaRPr lang="pt-BR"/>
        </a:p>
      </dgm:t>
    </dgm:pt>
    <dgm:pt modelId="{B506BEC0-95E5-4369-AF34-18BBC1FA689A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2- RECEBER DO CLIENTE</a:t>
          </a:r>
        </a:p>
      </dgm:t>
    </dgm:pt>
    <dgm:pt modelId="{09DB863D-72E3-4095-A1A1-6EB16B2123A4}" type="parTrans" cxnId="{2D772516-A481-40E6-B7E2-E0186C172FCB}">
      <dgm:prSet/>
      <dgm:spPr/>
      <dgm:t>
        <a:bodyPr/>
        <a:lstStyle/>
        <a:p>
          <a:endParaRPr lang="pt-BR"/>
        </a:p>
      </dgm:t>
    </dgm:pt>
    <dgm:pt modelId="{0618006F-4FEC-4F05-8BAE-8E930C9EDD8E}" type="sibTrans" cxnId="{2D772516-A481-40E6-B7E2-E0186C172FCB}">
      <dgm:prSet/>
      <dgm:spPr/>
      <dgm:t>
        <a:bodyPr/>
        <a:lstStyle/>
        <a:p>
          <a:endParaRPr lang="pt-BR"/>
        </a:p>
      </dgm:t>
    </dgm:pt>
    <dgm:pt modelId="{63DFE3E2-68A3-40F1-A8E8-42FE90EE012C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3- MANTER O CLIENTE</a:t>
          </a:r>
        </a:p>
      </dgm:t>
    </dgm:pt>
    <dgm:pt modelId="{F45DDFC5-D569-4647-A012-853E5E108E52}" type="parTrans" cxnId="{78686405-AB32-4CEC-887D-C0E59ECACB50}">
      <dgm:prSet/>
      <dgm:spPr/>
      <dgm:t>
        <a:bodyPr/>
        <a:lstStyle/>
        <a:p>
          <a:endParaRPr lang="pt-BR"/>
        </a:p>
      </dgm:t>
    </dgm:pt>
    <dgm:pt modelId="{FE028FE1-7421-4E97-8417-DD395FFAAC03}" type="sibTrans" cxnId="{78686405-AB32-4CEC-887D-C0E59ECACB50}">
      <dgm:prSet/>
      <dgm:spPr/>
      <dgm:t>
        <a:bodyPr/>
        <a:lstStyle/>
        <a:p>
          <a:endParaRPr lang="pt-BR"/>
        </a:p>
      </dgm:t>
    </dgm:pt>
    <dgm:pt modelId="{2BC3294D-B675-4289-9C15-B4077E98C884}" type="pres">
      <dgm:prSet presAssocID="{71A4C2D8-2BC9-4077-AFD4-23EF151B2899}" presName="root" presStyleCnt="0">
        <dgm:presLayoutVars>
          <dgm:dir/>
          <dgm:resizeHandles val="exact"/>
        </dgm:presLayoutVars>
      </dgm:prSet>
      <dgm:spPr/>
    </dgm:pt>
    <dgm:pt modelId="{0565EAC5-53EB-447E-90E5-ACD9CF5763FF}" type="pres">
      <dgm:prSet presAssocID="{1552FBA6-D1A3-4046-9421-88E6278735BC}" presName="compNode" presStyleCnt="0"/>
      <dgm:spPr/>
    </dgm:pt>
    <dgm:pt modelId="{001BF7D5-2D4C-4E35-8070-47EE65721EBB}" type="pres">
      <dgm:prSet presAssocID="{1552FBA6-D1A3-4046-9421-88E6278735BC}" presName="bgRect" presStyleLbl="bgShp" presStyleIdx="0" presStyleCnt="3"/>
      <dgm:spPr/>
    </dgm:pt>
    <dgm:pt modelId="{4310C63A-64BF-412D-9133-8D16F1ADBA7F}" type="pres">
      <dgm:prSet presAssocID="{1552FBA6-D1A3-4046-9421-88E6278735B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02CE5B2-5807-46D3-9C84-108056AB2C3F}" type="pres">
      <dgm:prSet presAssocID="{1552FBA6-D1A3-4046-9421-88E6278735BC}" presName="spaceRect" presStyleCnt="0"/>
      <dgm:spPr/>
    </dgm:pt>
    <dgm:pt modelId="{E5FD191B-9272-4A32-BE10-CAE71E3B1DE3}" type="pres">
      <dgm:prSet presAssocID="{1552FBA6-D1A3-4046-9421-88E6278735BC}" presName="parTx" presStyleLbl="revTx" presStyleIdx="0" presStyleCnt="3">
        <dgm:presLayoutVars>
          <dgm:chMax val="0"/>
          <dgm:chPref val="0"/>
        </dgm:presLayoutVars>
      </dgm:prSet>
      <dgm:spPr/>
    </dgm:pt>
    <dgm:pt modelId="{09B0421F-2B78-4606-B082-3FCFB18EFEF3}" type="pres">
      <dgm:prSet presAssocID="{9B807D10-C368-4813-99EB-E1FE9CB2A926}" presName="sibTrans" presStyleCnt="0"/>
      <dgm:spPr/>
    </dgm:pt>
    <dgm:pt modelId="{E7004B35-04FF-4681-9F95-292AA848E0FA}" type="pres">
      <dgm:prSet presAssocID="{B506BEC0-95E5-4369-AF34-18BBC1FA689A}" presName="compNode" presStyleCnt="0"/>
      <dgm:spPr/>
    </dgm:pt>
    <dgm:pt modelId="{6B886E99-C527-42B9-824C-22107B8729D5}" type="pres">
      <dgm:prSet presAssocID="{B506BEC0-95E5-4369-AF34-18BBC1FA689A}" presName="bgRect" presStyleLbl="bgShp" presStyleIdx="1" presStyleCnt="3" custLinFactNeighborY="-2749"/>
      <dgm:spPr/>
    </dgm:pt>
    <dgm:pt modelId="{752632CF-80B2-468F-A25C-D20128664C07}" type="pres">
      <dgm:prSet presAssocID="{B506BEC0-95E5-4369-AF34-18BBC1FA68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13B018A-752B-49D3-B6E4-A5C2488616EF}" type="pres">
      <dgm:prSet presAssocID="{B506BEC0-95E5-4369-AF34-18BBC1FA689A}" presName="spaceRect" presStyleCnt="0"/>
      <dgm:spPr/>
    </dgm:pt>
    <dgm:pt modelId="{185130E9-DB5B-40C3-A8F1-295998F489E3}" type="pres">
      <dgm:prSet presAssocID="{B506BEC0-95E5-4369-AF34-18BBC1FA689A}" presName="parTx" presStyleLbl="revTx" presStyleIdx="1" presStyleCnt="3">
        <dgm:presLayoutVars>
          <dgm:chMax val="0"/>
          <dgm:chPref val="0"/>
        </dgm:presLayoutVars>
      </dgm:prSet>
      <dgm:spPr/>
    </dgm:pt>
    <dgm:pt modelId="{28E1BABE-BB83-4FD5-B739-A0387A2A570F}" type="pres">
      <dgm:prSet presAssocID="{0618006F-4FEC-4F05-8BAE-8E930C9EDD8E}" presName="sibTrans" presStyleCnt="0"/>
      <dgm:spPr/>
    </dgm:pt>
    <dgm:pt modelId="{DE9DBBEC-EED7-42D1-88F9-9C3E5AA1950E}" type="pres">
      <dgm:prSet presAssocID="{63DFE3E2-68A3-40F1-A8E8-42FE90EE012C}" presName="compNode" presStyleCnt="0"/>
      <dgm:spPr/>
    </dgm:pt>
    <dgm:pt modelId="{2E0B624D-1A5E-4B56-B71F-11373BC184E8}" type="pres">
      <dgm:prSet presAssocID="{63DFE3E2-68A3-40F1-A8E8-42FE90EE012C}" presName="bgRect" presStyleLbl="bgShp" presStyleIdx="2" presStyleCnt="3"/>
      <dgm:spPr/>
    </dgm:pt>
    <dgm:pt modelId="{8FA3416B-F855-4868-AB1C-DCA87003BA9E}" type="pres">
      <dgm:prSet presAssocID="{63DFE3E2-68A3-40F1-A8E8-42FE90EE012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022A8C1-3B8F-4807-A306-EFE771B3211B}" type="pres">
      <dgm:prSet presAssocID="{63DFE3E2-68A3-40F1-A8E8-42FE90EE012C}" presName="spaceRect" presStyleCnt="0"/>
      <dgm:spPr/>
    </dgm:pt>
    <dgm:pt modelId="{E6377870-E945-4118-963E-EBF7F3CC5240}" type="pres">
      <dgm:prSet presAssocID="{63DFE3E2-68A3-40F1-A8E8-42FE90EE012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686405-AB32-4CEC-887D-C0E59ECACB50}" srcId="{71A4C2D8-2BC9-4077-AFD4-23EF151B2899}" destId="{63DFE3E2-68A3-40F1-A8E8-42FE90EE012C}" srcOrd="2" destOrd="0" parTransId="{F45DDFC5-D569-4647-A012-853E5E108E52}" sibTransId="{FE028FE1-7421-4E97-8417-DD395FFAAC03}"/>
    <dgm:cxn modelId="{2D772516-A481-40E6-B7E2-E0186C172FCB}" srcId="{71A4C2D8-2BC9-4077-AFD4-23EF151B2899}" destId="{B506BEC0-95E5-4369-AF34-18BBC1FA689A}" srcOrd="1" destOrd="0" parTransId="{09DB863D-72E3-4095-A1A1-6EB16B2123A4}" sibTransId="{0618006F-4FEC-4F05-8BAE-8E930C9EDD8E}"/>
    <dgm:cxn modelId="{60970D55-1A64-40D7-B686-8C5E86620100}" type="presOf" srcId="{63DFE3E2-68A3-40F1-A8E8-42FE90EE012C}" destId="{E6377870-E945-4118-963E-EBF7F3CC5240}" srcOrd="0" destOrd="0" presId="urn:microsoft.com/office/officeart/2018/2/layout/IconVerticalSolidList"/>
    <dgm:cxn modelId="{0D3B7979-0EF9-48BD-996C-3166DA032A58}" srcId="{71A4C2D8-2BC9-4077-AFD4-23EF151B2899}" destId="{1552FBA6-D1A3-4046-9421-88E6278735BC}" srcOrd="0" destOrd="0" parTransId="{A0B73F21-1DC2-443E-84B2-3415F9F27563}" sibTransId="{9B807D10-C368-4813-99EB-E1FE9CB2A926}"/>
    <dgm:cxn modelId="{C4E17FC9-D9FF-4799-A920-E9629E39577C}" type="presOf" srcId="{71A4C2D8-2BC9-4077-AFD4-23EF151B2899}" destId="{2BC3294D-B675-4289-9C15-B4077E98C884}" srcOrd="0" destOrd="0" presId="urn:microsoft.com/office/officeart/2018/2/layout/IconVerticalSolidList"/>
    <dgm:cxn modelId="{3F9388D4-D86D-4A1D-8E8A-FC40D89FDB7E}" type="presOf" srcId="{B506BEC0-95E5-4369-AF34-18BBC1FA689A}" destId="{185130E9-DB5B-40C3-A8F1-295998F489E3}" srcOrd="0" destOrd="0" presId="urn:microsoft.com/office/officeart/2018/2/layout/IconVerticalSolidList"/>
    <dgm:cxn modelId="{990B3EFC-D919-4A11-8D9A-E9A732B7356F}" type="presOf" srcId="{1552FBA6-D1A3-4046-9421-88E6278735BC}" destId="{E5FD191B-9272-4A32-BE10-CAE71E3B1DE3}" srcOrd="0" destOrd="0" presId="urn:microsoft.com/office/officeart/2018/2/layout/IconVerticalSolidList"/>
    <dgm:cxn modelId="{660EF418-B16A-44D2-A1C3-F1255EBB6D4A}" type="presParOf" srcId="{2BC3294D-B675-4289-9C15-B4077E98C884}" destId="{0565EAC5-53EB-447E-90E5-ACD9CF5763FF}" srcOrd="0" destOrd="0" presId="urn:microsoft.com/office/officeart/2018/2/layout/IconVerticalSolidList"/>
    <dgm:cxn modelId="{94816CF6-01D8-4CBF-98C6-0F2E94EC1E17}" type="presParOf" srcId="{0565EAC5-53EB-447E-90E5-ACD9CF5763FF}" destId="{001BF7D5-2D4C-4E35-8070-47EE65721EBB}" srcOrd="0" destOrd="0" presId="urn:microsoft.com/office/officeart/2018/2/layout/IconVerticalSolidList"/>
    <dgm:cxn modelId="{09E097EA-74FE-4D3B-8E0C-F37FD090445D}" type="presParOf" srcId="{0565EAC5-53EB-447E-90E5-ACD9CF5763FF}" destId="{4310C63A-64BF-412D-9133-8D16F1ADBA7F}" srcOrd="1" destOrd="0" presId="urn:microsoft.com/office/officeart/2018/2/layout/IconVerticalSolidList"/>
    <dgm:cxn modelId="{538FA32D-C8CF-43FE-B5B9-77B2438852FE}" type="presParOf" srcId="{0565EAC5-53EB-447E-90E5-ACD9CF5763FF}" destId="{802CE5B2-5807-46D3-9C84-108056AB2C3F}" srcOrd="2" destOrd="0" presId="urn:microsoft.com/office/officeart/2018/2/layout/IconVerticalSolidList"/>
    <dgm:cxn modelId="{7D32098B-A607-4840-AE3D-34A7C6F83C6D}" type="presParOf" srcId="{0565EAC5-53EB-447E-90E5-ACD9CF5763FF}" destId="{E5FD191B-9272-4A32-BE10-CAE71E3B1DE3}" srcOrd="3" destOrd="0" presId="urn:microsoft.com/office/officeart/2018/2/layout/IconVerticalSolidList"/>
    <dgm:cxn modelId="{3763E863-0EDA-4C4F-BCE8-95FB4ADAC5A1}" type="presParOf" srcId="{2BC3294D-B675-4289-9C15-B4077E98C884}" destId="{09B0421F-2B78-4606-B082-3FCFB18EFEF3}" srcOrd="1" destOrd="0" presId="urn:microsoft.com/office/officeart/2018/2/layout/IconVerticalSolidList"/>
    <dgm:cxn modelId="{5C354218-52D1-426C-B7DD-EA17A92295D7}" type="presParOf" srcId="{2BC3294D-B675-4289-9C15-B4077E98C884}" destId="{E7004B35-04FF-4681-9F95-292AA848E0FA}" srcOrd="2" destOrd="0" presId="urn:microsoft.com/office/officeart/2018/2/layout/IconVerticalSolidList"/>
    <dgm:cxn modelId="{D29440A1-7AAA-468C-ADEE-D741080EE5B0}" type="presParOf" srcId="{E7004B35-04FF-4681-9F95-292AA848E0FA}" destId="{6B886E99-C527-42B9-824C-22107B8729D5}" srcOrd="0" destOrd="0" presId="urn:microsoft.com/office/officeart/2018/2/layout/IconVerticalSolidList"/>
    <dgm:cxn modelId="{AC421EA8-71FD-441A-8679-FB7DDB3C3C54}" type="presParOf" srcId="{E7004B35-04FF-4681-9F95-292AA848E0FA}" destId="{752632CF-80B2-468F-A25C-D20128664C07}" srcOrd="1" destOrd="0" presId="urn:microsoft.com/office/officeart/2018/2/layout/IconVerticalSolidList"/>
    <dgm:cxn modelId="{91A7727B-F2BE-4E13-9811-F4DBABC5AF59}" type="presParOf" srcId="{E7004B35-04FF-4681-9F95-292AA848E0FA}" destId="{713B018A-752B-49D3-B6E4-A5C2488616EF}" srcOrd="2" destOrd="0" presId="urn:microsoft.com/office/officeart/2018/2/layout/IconVerticalSolidList"/>
    <dgm:cxn modelId="{F1826662-405D-4C0B-AC1B-1F2B2ED020C9}" type="presParOf" srcId="{E7004B35-04FF-4681-9F95-292AA848E0FA}" destId="{185130E9-DB5B-40C3-A8F1-295998F489E3}" srcOrd="3" destOrd="0" presId="urn:microsoft.com/office/officeart/2018/2/layout/IconVerticalSolidList"/>
    <dgm:cxn modelId="{1ECA033C-951F-4C27-B9DA-7B4B9E4DBAEB}" type="presParOf" srcId="{2BC3294D-B675-4289-9C15-B4077E98C884}" destId="{28E1BABE-BB83-4FD5-B739-A0387A2A570F}" srcOrd="3" destOrd="0" presId="urn:microsoft.com/office/officeart/2018/2/layout/IconVerticalSolidList"/>
    <dgm:cxn modelId="{4E440C43-CAF4-4191-842A-D9C753ED7DCB}" type="presParOf" srcId="{2BC3294D-B675-4289-9C15-B4077E98C884}" destId="{DE9DBBEC-EED7-42D1-88F9-9C3E5AA1950E}" srcOrd="4" destOrd="0" presId="urn:microsoft.com/office/officeart/2018/2/layout/IconVerticalSolidList"/>
    <dgm:cxn modelId="{1BDB7710-11D2-4884-A09F-CF287F30E486}" type="presParOf" srcId="{DE9DBBEC-EED7-42D1-88F9-9C3E5AA1950E}" destId="{2E0B624D-1A5E-4B56-B71F-11373BC184E8}" srcOrd="0" destOrd="0" presId="urn:microsoft.com/office/officeart/2018/2/layout/IconVerticalSolidList"/>
    <dgm:cxn modelId="{302E8F48-2096-463E-AD8E-4A4849ACDAAE}" type="presParOf" srcId="{DE9DBBEC-EED7-42D1-88F9-9C3E5AA1950E}" destId="{8FA3416B-F855-4868-AB1C-DCA87003BA9E}" srcOrd="1" destOrd="0" presId="urn:microsoft.com/office/officeart/2018/2/layout/IconVerticalSolidList"/>
    <dgm:cxn modelId="{B3BDC515-3856-40D4-8A2C-DD96C283704A}" type="presParOf" srcId="{DE9DBBEC-EED7-42D1-88F9-9C3E5AA1950E}" destId="{0022A8C1-3B8F-4807-A306-EFE771B3211B}" srcOrd="2" destOrd="0" presId="urn:microsoft.com/office/officeart/2018/2/layout/IconVerticalSolidList"/>
    <dgm:cxn modelId="{35DCB212-69C8-42FA-8449-EE3D5E5E39A9}" type="presParOf" srcId="{DE9DBBEC-EED7-42D1-88F9-9C3E5AA1950E}" destId="{E6377870-E945-4118-963E-EBF7F3CC52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BF7D5-2D4C-4E35-8070-47EE65721EBB}">
      <dsp:nvSpPr>
        <dsp:cNvPr id="0" name=""/>
        <dsp:cNvSpPr/>
      </dsp:nvSpPr>
      <dsp:spPr>
        <a:xfrm>
          <a:off x="0" y="600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0C63A-64BF-412D-9133-8D16F1ADBA7F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D191B-9272-4A32-BE10-CAE71E3B1DE3}">
      <dsp:nvSpPr>
        <dsp:cNvPr id="0" name=""/>
        <dsp:cNvSpPr/>
      </dsp:nvSpPr>
      <dsp:spPr>
        <a:xfrm>
          <a:off x="1623616" y="60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1- CAPTAR O CLIENTE </a:t>
          </a:r>
        </a:p>
      </dsp:txBody>
      <dsp:txXfrm>
        <a:off x="1623616" y="600"/>
        <a:ext cx="4018358" cy="1405728"/>
      </dsp:txXfrm>
    </dsp:sp>
    <dsp:sp modelId="{6B886E99-C527-42B9-824C-22107B8729D5}">
      <dsp:nvSpPr>
        <dsp:cNvPr id="0" name=""/>
        <dsp:cNvSpPr/>
      </dsp:nvSpPr>
      <dsp:spPr>
        <a:xfrm>
          <a:off x="0" y="1719117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632CF-80B2-468F-A25C-D20128664C07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130E9-DB5B-40C3-A8F1-295998F489E3}">
      <dsp:nvSpPr>
        <dsp:cNvPr id="0" name=""/>
        <dsp:cNvSpPr/>
      </dsp:nvSpPr>
      <dsp:spPr>
        <a:xfrm>
          <a:off x="1623616" y="175776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2- RECEBER DO CLIENTE</a:t>
          </a:r>
        </a:p>
      </dsp:txBody>
      <dsp:txXfrm>
        <a:off x="1623616" y="1757760"/>
        <a:ext cx="4018358" cy="1405728"/>
      </dsp:txXfrm>
    </dsp:sp>
    <dsp:sp modelId="{2E0B624D-1A5E-4B56-B71F-11373BC184E8}">
      <dsp:nvSpPr>
        <dsp:cNvPr id="0" name=""/>
        <dsp:cNvSpPr/>
      </dsp:nvSpPr>
      <dsp:spPr>
        <a:xfrm>
          <a:off x="0" y="3514921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3416B-F855-4868-AB1C-DCA87003BA9E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77870-E945-4118-963E-EBF7F3CC5240}">
      <dsp:nvSpPr>
        <dsp:cNvPr id="0" name=""/>
        <dsp:cNvSpPr/>
      </dsp:nvSpPr>
      <dsp:spPr>
        <a:xfrm>
          <a:off x="1623616" y="3514921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3- MANTER O CLIENTE</a:t>
          </a:r>
        </a:p>
      </dsp:txBody>
      <dsp:txXfrm>
        <a:off x="1623616" y="3514921"/>
        <a:ext cx="4018358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EDB57B2-1ECC-49FF-A691-13BE08CB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224" y="1105351"/>
            <a:ext cx="6353967" cy="3023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RMAR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Relatório mensal de avaliação de resultado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65E7F3-5244-4389-906B-44C36CA0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224" y="4297556"/>
            <a:ext cx="6353968" cy="14333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Mês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referência</a:t>
            </a:r>
            <a:r>
              <a:rPr lang="en-US" dirty="0">
                <a:solidFill>
                  <a:srgbClr val="FFFFFF"/>
                </a:solidFill>
              </a:rPr>
              <a:t>: 10/2020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6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C5337-76EC-402D-80AC-A8DE78C54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Unidade: cidade ademar/sp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C12C07-8839-477D-81AA-9D1CC0301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Preparado por: Equipe Cidade Ademar</a:t>
            </a:r>
          </a:p>
        </p:txBody>
      </p:sp>
    </p:spTree>
    <p:extLst>
      <p:ext uri="{BB962C8B-B14F-4D97-AF65-F5344CB8AC3E}">
        <p14:creationId xmlns:p14="http://schemas.microsoft.com/office/powerpoint/2010/main" val="254187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0FD031-8C53-4895-99D8-3AB274D2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Os pilares do nosso modelo de negócio</a:t>
            </a:r>
          </a:p>
        </p:txBody>
      </p:sp>
      <p:graphicFrame>
        <p:nvGraphicFramePr>
          <p:cNvPr id="4" name="Espaço Reservado para Conteúdo 5">
            <a:extLst>
              <a:ext uri="{FF2B5EF4-FFF2-40B4-BE49-F238E27FC236}">
                <a16:creationId xmlns:a16="http://schemas.microsoft.com/office/drawing/2014/main" id="{38D1CF6A-2EDB-4ACC-B2AC-2DEF04334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465991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804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F100B8-C371-42E7-93AA-0586A3CF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captação clientes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F28A1A-4C8C-4B69-913D-75D6C7063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10/2020</a:t>
            </a:r>
          </a:p>
        </p:txBody>
      </p:sp>
    </p:spTree>
    <p:extLst>
      <p:ext uri="{BB962C8B-B14F-4D97-AF65-F5344CB8AC3E}">
        <p14:creationId xmlns:p14="http://schemas.microsoft.com/office/powerpoint/2010/main" val="42741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B462C-6DA7-417D-975B-5A4ED817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Prospecções total</a:t>
            </a:r>
            <a:br>
              <a:rPr lang="pt-BR" dirty="0"/>
            </a:br>
            <a:r>
              <a:rPr lang="pt-BR" sz="2400" dirty="0"/>
              <a:t>(novas prospecções + refiliações)</a:t>
            </a:r>
            <a:endParaRPr lang="pt-BR" dirty="0"/>
          </a:p>
        </p:txBody>
      </p:sp>
      <p:graphicFrame>
        <p:nvGraphicFramePr>
          <p:cNvPr id="7" name="Espaço Reservado para Conteúdo 7">
            <a:extLst>
              <a:ext uri="{FF2B5EF4-FFF2-40B4-BE49-F238E27FC236}">
                <a16:creationId xmlns:a16="http://schemas.microsoft.com/office/drawing/2014/main" id="{8F1A4A56-AF9A-4774-88BD-DD86723B4D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396780"/>
              </p:ext>
            </p:extLst>
          </p:nvPr>
        </p:nvGraphicFramePr>
        <p:xfrm>
          <a:off x="546216" y="2062776"/>
          <a:ext cx="11194755" cy="4413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273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51A6A-FBFB-4CC2-A768-D14EA539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Novas prospecções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8F1A4A56-AF9A-4774-88BD-DD86723B4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591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987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A9149-2F37-4E0E-A240-AA7754B1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Refiliações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121CAE87-A9EF-420E-A6C7-87123F6FE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450973"/>
              </p:ext>
            </p:extLst>
          </p:nvPr>
        </p:nvGraphicFramePr>
        <p:xfrm>
          <a:off x="1023938" y="1803042"/>
          <a:ext cx="9720262" cy="4639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102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F30C4-8123-4B8B-82FB-8D84B44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Modalidade prospecções</a:t>
            </a:r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EC06D261-C6C1-4252-87A5-4A496C28B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499132"/>
              </p:ext>
            </p:extLst>
          </p:nvPr>
        </p:nvGraphicFramePr>
        <p:xfrm>
          <a:off x="498622" y="2444177"/>
          <a:ext cx="11194755" cy="4413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3897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8F30C4-8123-4B8B-82FB-8D84B44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Modalidade prospecções e refiliações</a:t>
            </a:r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6EC7E666-8774-446C-8AC0-729E42328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122646"/>
              </p:ext>
            </p:extLst>
          </p:nvPr>
        </p:nvGraphicFramePr>
        <p:xfrm>
          <a:off x="300032" y="1922098"/>
          <a:ext cx="11305814" cy="4607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433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B586068-3DDA-41FF-A40D-7CC0B9F5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recebimento clientes</a:t>
            </a:r>
          </a:p>
        </p:txBody>
      </p:sp>
    </p:spTree>
    <p:extLst>
      <p:ext uri="{BB962C8B-B14F-4D97-AF65-F5344CB8AC3E}">
        <p14:creationId xmlns:p14="http://schemas.microsoft.com/office/powerpoint/2010/main" val="1286010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C6915-A461-4A28-8AFD-9A8A5096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</a:t>
            </a:r>
            <a:r>
              <a:rPr lang="pt-BR" dirty="0" err="1"/>
              <a:t>qia</a:t>
            </a:r>
            <a:r>
              <a:rPr lang="pt-BR" dirty="0"/>
              <a:t> – QUANTIDADE DE ITENS ARRECADADOS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2FD1F3C1-B084-4B1D-B059-0DB39A0ECB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859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99BEA-2743-4700-BA3F-D56BF41C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qia</a:t>
            </a:r>
          </a:p>
        </p:txBody>
      </p:sp>
      <p:graphicFrame>
        <p:nvGraphicFramePr>
          <p:cNvPr id="4" name="Espaço Reservado para Conteúdo 5">
            <a:extLst>
              <a:ext uri="{FF2B5EF4-FFF2-40B4-BE49-F238E27FC236}">
                <a16:creationId xmlns:a16="http://schemas.microsoft.com/office/drawing/2014/main" id="{42D5C1BA-C93E-49AA-8AF0-64EFA833C3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2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129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682F6-10F8-4401-9026-7C395504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HOMOLOGAÇÃO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1421A044-1D28-4389-B2AF-95CEAE960A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2915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0"/>
            <a:ext cx="9720072" cy="1499616"/>
          </a:xfrm>
        </p:spPr>
        <p:txBody>
          <a:bodyPr/>
          <a:lstStyle/>
          <a:p>
            <a:r>
              <a:rPr lang="pt-BR" dirty="0"/>
              <a:t>Adimplência TOTAL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50576" y="0"/>
          <a:ext cx="5989124" cy="590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192139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ADIMPLÊNCIA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06/2019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13.939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10.629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76,25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07/2019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14.333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11.713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81,72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08/2019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14.739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12.105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82,12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09/2019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15.013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12.426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82,76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10/2019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15.335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12.736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83,05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11/2019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15.542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12.582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80,95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12/2019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15.513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12.448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80,24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01/2020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15.603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11.489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73,63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02/2020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15.292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10.877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71,12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03/2020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15.408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11.203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72,70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15.802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11.085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70,14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05/2020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15.753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11.068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70,25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69671744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06/2020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15.879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13.026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82,10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7220996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867730" y="5909183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07/2020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16.024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14.326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89,4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879606" y="6301069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08/2020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16.359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14033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85,8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44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0"/>
            <a:ext cx="9720072" cy="1499616"/>
          </a:xfrm>
        </p:spPr>
        <p:txBody>
          <a:bodyPr/>
          <a:lstStyle/>
          <a:p>
            <a:r>
              <a:rPr lang="pt-BR" dirty="0"/>
              <a:t>Adimplência TOTAL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50576" y="0"/>
          <a:ext cx="5989124" cy="560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192139">
                <a:tc>
                  <a:txBody>
                    <a:bodyPr/>
                    <a:lstStyle/>
                    <a:p>
                      <a:r>
                        <a:rPr lang="pt-BR" sz="1600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ADIMPLÊNCIA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16.359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15.092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92,09%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10/2020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16.508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15.683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95,00%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69671744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7220996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855856" y="5612300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855856" y="6063563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914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91509C-487C-4AA2-B1B5-7052D5E05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manutenção dos clientes</a:t>
            </a:r>
          </a:p>
        </p:txBody>
      </p:sp>
    </p:spTree>
    <p:extLst>
      <p:ext uri="{BB962C8B-B14F-4D97-AF65-F5344CB8AC3E}">
        <p14:creationId xmlns:p14="http://schemas.microsoft.com/office/powerpoint/2010/main" val="1191672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64666"/>
            <a:ext cx="9720072" cy="1499616"/>
          </a:xfrm>
        </p:spPr>
        <p:txBody>
          <a:bodyPr/>
          <a:lstStyle/>
          <a:p>
            <a:r>
              <a:rPr lang="pt-BR" dirty="0"/>
              <a:t>CHURN RATE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264" y="0"/>
          <a:ext cx="6258293" cy="61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90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662667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DESFILIAÇÕES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CHURN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06/2019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13.939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193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1,38%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17195456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07/2019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14.333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167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1,17%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08/2019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14.739.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184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1,25%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09/2019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15.013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209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1,39%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10/2019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15.335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190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1,24%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11/2019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15.542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215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1,38%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12/2019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15.513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236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1,59%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01/2020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15.603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219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1,40%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02/2020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15.292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524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3,43%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03/2020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15.408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0,57%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15.802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207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1,31%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05/2020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15.753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51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0,32 %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06/2020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16.254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404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2,49%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831699069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119585" y="6039811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07/2020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16.187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418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2,61%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131459" y="6438574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08/2020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16.359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286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1,78%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76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64666"/>
            <a:ext cx="9720072" cy="1499616"/>
          </a:xfrm>
        </p:spPr>
        <p:txBody>
          <a:bodyPr/>
          <a:lstStyle/>
          <a:p>
            <a:r>
              <a:rPr lang="pt-BR" dirty="0"/>
              <a:t>CHURN RATE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264" y="0"/>
          <a:ext cx="6258293" cy="61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90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662667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DESFILIAÇÕES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CHURN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09/2020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16.359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445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2,72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17195456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10/2020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16.286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340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2,09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831699069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048334" y="6224824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6540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3428</TotalTime>
  <Words>263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Tw Cen MT</vt:lpstr>
      <vt:lpstr>Tw Cen MT Condensed</vt:lpstr>
      <vt:lpstr>Wingdings 3</vt:lpstr>
      <vt:lpstr>Integral</vt:lpstr>
      <vt:lpstr>RMAR Relatório mensal de avaliação de resultado </vt:lpstr>
      <vt:lpstr>Unidade: cidade ademar/sp</vt:lpstr>
      <vt:lpstr>Os pilares do nosso modelo de negócio</vt:lpstr>
      <vt:lpstr>Resultado captação clientes</vt:lpstr>
      <vt:lpstr>Prospecções total (novas prospecções + refiliações)</vt:lpstr>
      <vt:lpstr>Novas prospecções</vt:lpstr>
      <vt:lpstr>Refiliações</vt:lpstr>
      <vt:lpstr>Modalidade prospecções</vt:lpstr>
      <vt:lpstr>Modalidade prospecções e refiliações</vt:lpstr>
      <vt:lpstr>Resultado recebimento clientes</vt:lpstr>
      <vt:lpstr>Evolução qia – QUANTIDADE DE ITENS ARRECADADOS</vt:lpstr>
      <vt:lpstr>Composição qia</vt:lpstr>
      <vt:lpstr>HOMOLOGAÇÃO</vt:lpstr>
      <vt:lpstr>Adimplência TOTAL</vt:lpstr>
      <vt:lpstr>Adimplência TOTAL</vt:lpstr>
      <vt:lpstr>Resultado manutenção dos clientes</vt:lpstr>
      <vt:lpstr>CHURN RATE</vt:lpstr>
      <vt:lpstr>CHURN 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RMAR Relatório mensal de avaliação de resultado</dc:title>
  <dc:creator>Briza Freitas</dc:creator>
  <cp:lastModifiedBy>MAYKO RODRIGUES</cp:lastModifiedBy>
  <cp:revision>130</cp:revision>
  <dcterms:created xsi:type="dcterms:W3CDTF">2020-03-18T18:28:06Z</dcterms:created>
  <dcterms:modified xsi:type="dcterms:W3CDTF">2026-05-12T17:23:39Z</dcterms:modified>
</cp:coreProperties>
</file>